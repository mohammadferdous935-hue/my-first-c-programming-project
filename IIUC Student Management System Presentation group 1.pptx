
<file path=[Content_Types].xml><?xml version="1.0" encoding="utf-8"?>
<Types xmlns="http://schemas.openxmlformats.org/package/2006/content-types">
  <Default Extension="jfif" ContentType="image/jpeg"/>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7" r:id="rId1"/>
  </p:sldMasterIdLst>
  <p:notesMasterIdLst>
    <p:notesMasterId r:id="rId22"/>
  </p:notesMasterIdLst>
  <p:sldIdLst>
    <p:sldId id="256" r:id="rId2"/>
    <p:sldId id="257" r:id="rId3"/>
    <p:sldId id="268" r:id="rId4"/>
    <p:sldId id="258" r:id="rId5"/>
    <p:sldId id="270" r:id="rId6"/>
    <p:sldId id="271" r:id="rId7"/>
    <p:sldId id="272" r:id="rId8"/>
    <p:sldId id="273" r:id="rId9"/>
    <p:sldId id="274" r:id="rId10"/>
    <p:sldId id="275" r:id="rId11"/>
    <p:sldId id="276" r:id="rId12"/>
    <p:sldId id="277" r:id="rId13"/>
    <p:sldId id="269" r:id="rId14"/>
    <p:sldId id="278" r:id="rId15"/>
    <p:sldId id="279" r:id="rId16"/>
    <p:sldId id="280" r:id="rId17"/>
    <p:sldId id="281" r:id="rId18"/>
    <p:sldId id="282" r:id="rId19"/>
    <p:sldId id="283" r:id="rId20"/>
    <p:sldId id="266"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1D4DB"/>
    <a:srgbClr val="8FC4F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13" autoAdjust="0"/>
    <p:restoredTop sz="94660"/>
  </p:normalViewPr>
  <p:slideViewPr>
    <p:cSldViewPr snapToGrid="0" snapToObjects="1">
      <p:cViewPr varScale="1">
        <p:scale>
          <a:sx n="82" d="100"/>
          <a:sy n="82" d="100"/>
        </p:scale>
        <p:origin x="701"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817201-4B54-4285-BEDF-107823B63773}" type="datetimeFigureOut">
              <a:rPr lang="en-US" smtClean="0"/>
              <a:t>8/5/2026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B7C951-EB42-472C-A167-9F6680605F8F}" type="slidenum">
              <a:rPr lang="en-US" smtClean="0"/>
              <a:t>‹#›</a:t>
            </a:fld>
            <a:endParaRPr lang="en-US"/>
          </a:p>
        </p:txBody>
      </p:sp>
    </p:spTree>
    <p:extLst>
      <p:ext uri="{BB962C8B-B14F-4D97-AF65-F5344CB8AC3E}">
        <p14:creationId xmlns:p14="http://schemas.microsoft.com/office/powerpoint/2010/main" val="6210175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2B7C951-EB42-472C-A167-9F6680605F8F}" type="slidenum">
              <a:rPr lang="en-US" smtClean="0"/>
              <a:t>10</a:t>
            </a:fld>
            <a:endParaRPr lang="en-US"/>
          </a:p>
        </p:txBody>
      </p:sp>
    </p:spTree>
    <p:extLst>
      <p:ext uri="{BB962C8B-B14F-4D97-AF65-F5344CB8AC3E}">
        <p14:creationId xmlns:p14="http://schemas.microsoft.com/office/powerpoint/2010/main" val="9593345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5BCAD085-E8A6-8845-BD4E-CB4CCA059FC4}" type="datetimeFigureOut">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66567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164524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11554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8/5/2026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369676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8/5/2026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249041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8/5/2026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048887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074170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271698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10433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965471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26001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55000">
              <a:schemeClr val="accent5">
                <a:lumMod val="60000"/>
                <a:lumOff val="40000"/>
              </a:schemeClr>
            </a:gs>
            <a:gs pos="0">
              <a:schemeClr val="accent5">
                <a:alpha val="94000"/>
              </a:schemeClr>
            </a:gs>
          </a:gsLst>
          <a:lin ang="162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5BCAD085-E8A6-8845-BD4E-CB4CCA059FC4}" type="datetimeFigureOut">
              <a:rPr lang="en-US" smtClean="0"/>
              <a:t>8/5/2026</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C1FF6DA9-008F-8B48-92A6-B652298478BF}" type="slidenum">
              <a:rPr lang="en-US" smtClean="0"/>
              <a:t>‹#›</a:t>
            </a:fld>
            <a:endParaRPr 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2605953"/>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fif"/><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1.png"/><Relationship Id="rId4" Type="http://schemas.microsoft.com/office/2007/relationships/hdphoto" Target="../media/hdphoto1.wdp"/><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18" Type="http://schemas.openxmlformats.org/officeDocument/2006/relationships/image" Target="../media/image33.pn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27.png"/><Relationship Id="rId17" Type="http://schemas.openxmlformats.org/officeDocument/2006/relationships/image" Target="../media/image32.png"/><Relationship Id="rId2" Type="http://schemas.openxmlformats.org/officeDocument/2006/relationships/image" Target="../media/image17.png"/><Relationship Id="rId16"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5" Type="http://schemas.openxmlformats.org/officeDocument/2006/relationships/image" Target="../media/image3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 Id="rId14" Type="http://schemas.openxmlformats.org/officeDocument/2006/relationships/image" Target="../media/image29.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635442" y="2269564"/>
            <a:ext cx="8921115" cy="641201"/>
          </a:xfrm>
          <a:prstGeom prst="rect">
            <a:avLst/>
          </a:prstGeom>
          <a:solidFill>
            <a:schemeClr val="accent5"/>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lIns="0" tIns="0" rIns="0" bIns="0" anchor="t">
            <a:spAutoFit/>
          </a:bodyPr>
          <a:lstStyle/>
          <a:p>
            <a:pPr algn="ctr">
              <a:lnSpc>
                <a:spcPts val="5002"/>
              </a:lnSpc>
            </a:pPr>
            <a:r>
              <a:rPr lang="en-US" sz="4350" b="1" i="0" u="none" dirty="0">
                <a:solidFill>
                  <a:srgbClr val="0F172A"/>
                </a:solidFill>
                <a:latin typeface="Poppins"/>
              </a:rPr>
              <a:t>Title: </a:t>
            </a:r>
            <a:r>
              <a:rPr lang="en-US" sz="4350" b="1" i="0" u="none" dirty="0" smtClean="0">
                <a:solidFill>
                  <a:srgbClr val="0F172A"/>
                </a:solidFill>
                <a:latin typeface="Poppins"/>
              </a:rPr>
              <a:t>STUDENT </a:t>
            </a:r>
            <a:r>
              <a:rPr lang="en-US" sz="4350" b="1" i="0" u="none" dirty="0">
                <a:solidFill>
                  <a:srgbClr val="0F172A"/>
                </a:solidFill>
                <a:latin typeface="Poppins"/>
              </a:rPr>
              <a:t>BOX</a:t>
            </a:r>
            <a:endParaRPr sz="4350" b="1" i="0" u="none" dirty="0">
              <a:solidFill>
                <a:srgbClr val="0F172A"/>
              </a:solidFill>
              <a:latin typeface="Poppins"/>
            </a:endParaRPr>
          </a:p>
        </p:txBody>
      </p:sp>
      <p:pic>
        <p:nvPicPr>
          <p:cNvPr id="7" name="Picture 6">
            <a:extLst>
              <a:ext uri="{FF2B5EF4-FFF2-40B4-BE49-F238E27FC236}">
                <a16:creationId xmlns:a16="http://schemas.microsoft.com/office/drawing/2014/main" id="{4D3741A3-7D2C-4397-9AC8-098BEE2416AF}"/>
              </a:ext>
            </a:extLst>
          </p:cNvPr>
          <p:cNvPicPr>
            <a:picLocks noChangeAspect="1"/>
          </p:cNvPicPr>
          <p:nvPr/>
        </p:nvPicPr>
        <p:blipFill>
          <a:blip r:embed="rId2"/>
          <a:stretch>
            <a:fillRect/>
          </a:stretch>
        </p:blipFill>
        <p:spPr>
          <a:xfrm>
            <a:off x="1" y="-1"/>
            <a:ext cx="12192000" cy="1534028"/>
          </a:xfrm>
          <a:prstGeom prst="rect">
            <a:avLst/>
          </a:prstGeom>
          <a:ln>
            <a:noFill/>
          </a:ln>
          <a:effectLst>
            <a:outerShdw blurRad="107950" dist="12700" dir="5400000" algn="ctr">
              <a:srgbClr val="000000"/>
            </a:outerShdw>
          </a:effectLst>
        </p:spPr>
      </p:pic>
      <p:sp>
        <p:nvSpPr>
          <p:cNvPr id="11" name="Rectangle 10">
            <a:extLst>
              <a:ext uri="{FF2B5EF4-FFF2-40B4-BE49-F238E27FC236}">
                <a16:creationId xmlns:a16="http://schemas.microsoft.com/office/drawing/2014/main" id="{26FCE226-230A-48E5-ADD9-C8741DE711B2}"/>
              </a:ext>
            </a:extLst>
          </p:cNvPr>
          <p:cNvSpPr/>
          <p:nvPr/>
        </p:nvSpPr>
        <p:spPr>
          <a:xfrm>
            <a:off x="1" y="1578630"/>
            <a:ext cx="12192001" cy="646331"/>
          </a:xfrm>
          <a:prstGeom prst="rect">
            <a:avLst/>
          </a:prstGeom>
          <a:solidFill>
            <a:schemeClr val="accent5"/>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a:spAutoFit/>
          </a:bodyPr>
          <a:lstStyle/>
          <a:p>
            <a:pPr algn="ctr"/>
            <a:r>
              <a:rPr lang="it-IT" b="1" dirty="0">
                <a:solidFill>
                  <a:schemeClr val="bg1"/>
                </a:solidFill>
              </a:rPr>
              <a:t>Course Code: CSE-1122 </a:t>
            </a:r>
          </a:p>
          <a:p>
            <a:pPr algn="ctr"/>
            <a:r>
              <a:rPr lang="it-IT" b="1" dirty="0">
                <a:solidFill>
                  <a:schemeClr val="bg1"/>
                </a:solidFill>
              </a:rPr>
              <a:t>Course Name: Computer Programming I Lab</a:t>
            </a:r>
            <a:endParaRPr lang="en-US" sz="1200" b="1" dirty="0">
              <a:solidFill>
                <a:schemeClr val="bg1"/>
              </a:solidFill>
            </a:endParaRPr>
          </a:p>
        </p:txBody>
      </p:sp>
      <p:pic>
        <p:nvPicPr>
          <p:cNvPr id="13" name="Picture 12">
            <a:extLst>
              <a:ext uri="{FF2B5EF4-FFF2-40B4-BE49-F238E27FC236}">
                <a16:creationId xmlns:a16="http://schemas.microsoft.com/office/drawing/2014/main" id="{0FF010E6-B8CF-4E9D-89DC-B00A69D5B779}"/>
              </a:ext>
            </a:extLst>
          </p:cNvPr>
          <p:cNvPicPr>
            <a:picLocks noChangeAspect="1"/>
          </p:cNvPicPr>
          <p:nvPr/>
        </p:nvPicPr>
        <p:blipFill rotWithShape="1">
          <a:blip r:embed="rId3"/>
          <a:srcRect l="1136" t="12449" r="1698" b="5999"/>
          <a:stretch/>
        </p:blipFill>
        <p:spPr>
          <a:xfrm>
            <a:off x="2662988" y="3005012"/>
            <a:ext cx="6994359" cy="330383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arn(inVertical)">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p:cTn id="17" dur="500" fill="hold"/>
                                        <p:tgtEl>
                                          <p:spTgt spid="13"/>
                                        </p:tgtEl>
                                        <p:attrNameLst>
                                          <p:attrName>ppt_w</p:attrName>
                                        </p:attrNameLst>
                                      </p:cBhvr>
                                      <p:tavLst>
                                        <p:tav tm="0">
                                          <p:val>
                                            <p:fltVal val="0"/>
                                          </p:val>
                                        </p:tav>
                                        <p:tav tm="100000">
                                          <p:val>
                                            <p:strVal val="#ppt_w"/>
                                          </p:val>
                                        </p:tav>
                                      </p:tavLst>
                                    </p:anim>
                                    <p:anim calcmode="lin" valueType="num">
                                      <p:cBhvr>
                                        <p:cTn id="18" dur="500" fill="hold"/>
                                        <p:tgtEl>
                                          <p:spTgt spid="13"/>
                                        </p:tgtEl>
                                        <p:attrNameLst>
                                          <p:attrName>ppt_h</p:attrName>
                                        </p:attrNameLst>
                                      </p:cBhvr>
                                      <p:tavLst>
                                        <p:tav tm="0">
                                          <p:val>
                                            <p:fltVal val="0"/>
                                          </p:val>
                                        </p:tav>
                                        <p:tav tm="100000">
                                          <p:val>
                                            <p:strVal val="#ppt_h"/>
                                          </p:val>
                                        </p:tav>
                                      </p:tavLst>
                                    </p:anim>
                                    <p:animEffect transition="in" filter="fade">
                                      <p:cBhvr>
                                        <p:cTn id="19" dur="500"/>
                                        <p:tgtEl>
                                          <p:spTgt spid="13"/>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barn(inVertical)">
                                      <p:cBhvr>
                                        <p:cTn id="2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1"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png"/>
          <p:cNvPicPr>
            <a:picLocks noChangeAspect="1"/>
          </p:cNvPicPr>
          <p:nvPr/>
        </p:nvPicPr>
        <p:blipFill>
          <a:blip r:embed="rId2">
            <a:biLevel thresh="75000"/>
          </a:blip>
          <a:stretch>
            <a:fillRect/>
          </a:stretch>
        </p:blipFill>
        <p:spPr>
          <a:xfrm>
            <a:off x="571500" y="4283868"/>
            <a:ext cx="11049000" cy="962025"/>
          </a:xfrm>
          <a:prstGeom prst="rect">
            <a:avLst/>
          </a:prstGeom>
          <a:ln>
            <a:noFill/>
          </a:ln>
          <a:effectLst/>
          <a:scene3d>
            <a:camera prst="orthographicFront">
              <a:rot lat="0" lon="0" rev="0"/>
            </a:camera>
            <a:lightRig rig="contrasting" dir="t">
              <a:rot lat="0" lon="0" rev="7800000"/>
            </a:lightRig>
          </a:scene3d>
          <a:sp3d>
            <a:bevelT w="139700" h="139700"/>
          </a:sp3d>
        </p:spPr>
      </p:pic>
      <p:pic>
        <p:nvPicPr>
          <p:cNvPr id="4" name="Picture 3" descr="image.png"/>
          <p:cNvPicPr>
            <a:picLocks noChangeAspect="1"/>
          </p:cNvPicPr>
          <p:nvPr/>
        </p:nvPicPr>
        <p:blipFill>
          <a:blip r:embed="rId3">
            <a:duotone>
              <a:prstClr val="black"/>
              <a:schemeClr val="accent5">
                <a:tint val="45000"/>
                <a:satMod val="400000"/>
              </a:schemeClr>
            </a:duotone>
            <a:extLst>
              <a:ext uri="{BEBA8EAE-BF5A-486C-A8C5-ECC9F3942E4B}">
                <a14:imgProps xmlns:a14="http://schemas.microsoft.com/office/drawing/2010/main">
                  <a14:imgLayer r:embed="rId4">
                    <a14:imgEffect>
                      <a14:colorTemperature colorTemp="7200"/>
                    </a14:imgEffect>
                  </a14:imgLayer>
                </a14:imgProps>
              </a:ext>
            </a:extLst>
          </a:blip>
          <a:stretch>
            <a:fillRect/>
          </a:stretch>
        </p:blipFill>
        <p:spPr>
          <a:xfrm>
            <a:off x="548809" y="2374106"/>
            <a:ext cx="2619375" cy="1624012"/>
          </a:xfrm>
          <a:prstGeom prst="rect">
            <a:avLst/>
          </a:prstGeom>
          <a:gradFill>
            <a:gsLst>
              <a:gs pos="59000">
                <a:schemeClr val="accent5">
                  <a:lumMod val="60000"/>
                  <a:lumOff val="40000"/>
                </a:schemeClr>
              </a:gs>
              <a:gs pos="0">
                <a:schemeClr val="accent5">
                  <a:alpha val="94000"/>
                </a:schemeClr>
              </a:gs>
            </a:gsLst>
            <a:lin ang="16200000" scaled="1"/>
          </a:gradFill>
          <a:ln>
            <a:noFill/>
          </a:ln>
          <a:effectLst/>
          <a:scene3d>
            <a:camera prst="orthographicFront">
              <a:rot lat="0" lon="0" rev="0"/>
            </a:camera>
            <a:lightRig rig="contrasting" dir="t">
              <a:rot lat="0" lon="0" rev="7800000"/>
            </a:lightRig>
          </a:scene3d>
          <a:sp3d>
            <a:bevelT w="139700" h="139700"/>
          </a:sp3d>
        </p:spPr>
      </p:pic>
      <p:pic>
        <p:nvPicPr>
          <p:cNvPr id="5" name="Picture 4" descr="image.png"/>
          <p:cNvPicPr>
            <a:picLocks noChangeAspect="1"/>
          </p:cNvPicPr>
          <p:nvPr/>
        </p:nvPicPr>
        <p:blipFill>
          <a:blip r:embed="rId5">
            <a:duotone>
              <a:prstClr val="black"/>
              <a:schemeClr val="accent5">
                <a:tint val="45000"/>
                <a:satMod val="400000"/>
              </a:schemeClr>
            </a:duotone>
          </a:blip>
          <a:stretch>
            <a:fillRect/>
          </a:stretch>
        </p:blipFill>
        <p:spPr>
          <a:xfrm>
            <a:off x="3427332" y="2362200"/>
            <a:ext cx="2619375" cy="1624012"/>
          </a:xfrm>
          <a:prstGeom prst="rect">
            <a:avLst/>
          </a:prstGeom>
          <a:ln>
            <a:noFill/>
          </a:ln>
          <a:effectLst/>
          <a:scene3d>
            <a:camera prst="orthographicFront">
              <a:rot lat="0" lon="0" rev="0"/>
            </a:camera>
            <a:lightRig rig="contrasting" dir="t">
              <a:rot lat="0" lon="0" rev="7800000"/>
            </a:lightRig>
          </a:scene3d>
          <a:sp3d>
            <a:bevelT w="139700" h="139700"/>
          </a:sp3d>
        </p:spPr>
      </p:pic>
      <p:pic>
        <p:nvPicPr>
          <p:cNvPr id="6" name="Picture 5" descr="image.png"/>
          <p:cNvPicPr>
            <a:picLocks noChangeAspect="1"/>
          </p:cNvPicPr>
          <p:nvPr/>
        </p:nvPicPr>
        <p:blipFill>
          <a:blip r:embed="rId5">
            <a:duotone>
              <a:prstClr val="black"/>
              <a:schemeClr val="accent5">
                <a:tint val="45000"/>
                <a:satMod val="400000"/>
              </a:schemeClr>
            </a:duotone>
          </a:blip>
          <a:stretch>
            <a:fillRect/>
          </a:stretch>
        </p:blipFill>
        <p:spPr>
          <a:xfrm>
            <a:off x="6191250" y="2374106"/>
            <a:ext cx="2619375" cy="1624012"/>
          </a:xfrm>
          <a:prstGeom prst="rect">
            <a:avLst/>
          </a:prstGeom>
          <a:ln>
            <a:noFill/>
          </a:ln>
          <a:effectLst/>
          <a:scene3d>
            <a:camera prst="orthographicFront">
              <a:rot lat="0" lon="0" rev="0"/>
            </a:camera>
            <a:lightRig rig="contrasting" dir="t">
              <a:rot lat="0" lon="0" rev="7800000"/>
            </a:lightRig>
          </a:scene3d>
          <a:sp3d>
            <a:bevelT w="139700" h="139700"/>
          </a:sp3d>
        </p:spPr>
      </p:pic>
      <p:pic>
        <p:nvPicPr>
          <p:cNvPr id="7" name="Picture 6" descr="image.png"/>
          <p:cNvPicPr>
            <a:picLocks noChangeAspect="1"/>
          </p:cNvPicPr>
          <p:nvPr/>
        </p:nvPicPr>
        <p:blipFill>
          <a:blip r:embed="rId6">
            <a:duotone>
              <a:prstClr val="black"/>
              <a:schemeClr val="accent5">
                <a:tint val="45000"/>
                <a:satMod val="400000"/>
              </a:schemeClr>
            </a:duotone>
          </a:blip>
          <a:stretch>
            <a:fillRect/>
          </a:stretch>
        </p:blipFill>
        <p:spPr>
          <a:xfrm>
            <a:off x="9047082" y="2374106"/>
            <a:ext cx="2619375" cy="1624012"/>
          </a:xfrm>
          <a:prstGeom prst="rect">
            <a:avLst/>
          </a:prstGeom>
          <a:ln>
            <a:noFill/>
          </a:ln>
          <a:effectLst/>
          <a:scene3d>
            <a:camera prst="orthographicFront">
              <a:rot lat="0" lon="0" rev="0"/>
            </a:camera>
            <a:lightRig rig="contrasting" dir="t">
              <a:rot lat="0" lon="0" rev="7800000"/>
            </a:lightRig>
          </a:scene3d>
          <a:sp3d>
            <a:bevelT w="139700" h="139700"/>
          </a:sp3d>
        </p:spPr>
      </p:pic>
      <p:pic>
        <p:nvPicPr>
          <p:cNvPr id="8" name="Picture 7" descr="image.png"/>
          <p:cNvPicPr>
            <a:picLocks noChangeAspect="1"/>
          </p:cNvPicPr>
          <p:nvPr/>
        </p:nvPicPr>
        <p:blipFill>
          <a:blip r:embed="rId7"/>
          <a:stretch>
            <a:fillRect/>
          </a:stretch>
        </p:blipFill>
        <p:spPr>
          <a:xfrm>
            <a:off x="1572746" y="2555081"/>
            <a:ext cx="571500" cy="571500"/>
          </a:xfrm>
          <a:prstGeom prst="rect">
            <a:avLst/>
          </a:prstGeom>
        </p:spPr>
      </p:pic>
      <p:sp>
        <p:nvSpPr>
          <p:cNvPr id="9" name="TextBox 8"/>
          <p:cNvSpPr txBox="1"/>
          <p:nvPr/>
        </p:nvSpPr>
        <p:spPr>
          <a:xfrm>
            <a:off x="716041" y="3259931"/>
            <a:ext cx="2330291" cy="230832"/>
          </a:xfrm>
          <a:prstGeom prst="rect">
            <a:avLst/>
          </a:prstGeom>
          <a:noFill/>
        </p:spPr>
        <p:txBody>
          <a:bodyPr wrap="square" lIns="0" tIns="0" rIns="0" bIns="0" anchor="t">
            <a:spAutoFit/>
          </a:bodyPr>
          <a:lstStyle/>
          <a:p>
            <a:pPr algn="ctr"/>
            <a:r>
              <a:rPr lang="en-US" sz="1500" b="1" dirty="0" smtClean="0">
                <a:solidFill>
                  <a:srgbClr val="0F172A"/>
                </a:solidFill>
                <a:latin typeface="Poppins"/>
              </a:rPr>
              <a:t>Raisul Islam Rakib</a:t>
            </a:r>
            <a:endParaRPr sz="1500" b="1" i="0" u="none" dirty="0">
              <a:solidFill>
                <a:srgbClr val="FF0000"/>
              </a:solidFill>
              <a:latin typeface="Poppins"/>
            </a:endParaRPr>
          </a:p>
        </p:txBody>
      </p:sp>
      <p:sp>
        <p:nvSpPr>
          <p:cNvPr id="10" name="TextBox 9"/>
          <p:cNvSpPr txBox="1"/>
          <p:nvPr/>
        </p:nvSpPr>
        <p:spPr>
          <a:xfrm>
            <a:off x="771525" y="3583781"/>
            <a:ext cx="2219325" cy="197362"/>
          </a:xfrm>
          <a:prstGeom prst="rect">
            <a:avLst/>
          </a:prstGeom>
          <a:noFill/>
        </p:spPr>
        <p:txBody>
          <a:bodyPr wrap="square" lIns="0" tIns="0" rIns="0" bIns="0" anchor="t">
            <a:spAutoFit/>
          </a:bodyPr>
          <a:lstStyle/>
          <a:p>
            <a:pPr algn="ctr">
              <a:lnSpc>
                <a:spcPts val="1687"/>
              </a:lnSpc>
            </a:pPr>
            <a:r>
              <a:rPr sz="1125" b="0" i="0" u="none" dirty="0">
                <a:solidFill>
                  <a:srgbClr val="0284C7"/>
                </a:solidFill>
                <a:latin typeface="Inter SemiBold"/>
              </a:rPr>
              <a:t>ID: </a:t>
            </a:r>
            <a:r>
              <a:rPr sz="1125" b="0" i="0" u="none" dirty="0" smtClean="0">
                <a:solidFill>
                  <a:srgbClr val="0284C7"/>
                </a:solidFill>
                <a:latin typeface="Inter SemiBold"/>
              </a:rPr>
              <a:t>C2</a:t>
            </a:r>
            <a:r>
              <a:rPr lang="en-US" sz="1160" b="0" i="0" u="none" dirty="0" smtClean="0">
                <a:solidFill>
                  <a:srgbClr val="0284C7"/>
                </a:solidFill>
                <a:latin typeface="Inter SemiBold"/>
              </a:rPr>
              <a:t>61002</a:t>
            </a:r>
            <a:endParaRPr sz="1160" b="0" i="0" u="none" dirty="0">
              <a:solidFill>
                <a:srgbClr val="0284C7"/>
              </a:solidFill>
              <a:latin typeface="Inter SemiBold"/>
            </a:endParaRPr>
          </a:p>
        </p:txBody>
      </p:sp>
      <p:pic>
        <p:nvPicPr>
          <p:cNvPr id="11" name="Picture 10" descr="image.png"/>
          <p:cNvPicPr>
            <a:picLocks noChangeAspect="1"/>
          </p:cNvPicPr>
          <p:nvPr/>
        </p:nvPicPr>
        <p:blipFill>
          <a:blip r:embed="rId8"/>
          <a:stretch>
            <a:fillRect/>
          </a:stretch>
        </p:blipFill>
        <p:spPr>
          <a:xfrm>
            <a:off x="4405312" y="2574131"/>
            <a:ext cx="571500" cy="571500"/>
          </a:xfrm>
          <a:prstGeom prst="rect">
            <a:avLst/>
          </a:prstGeom>
        </p:spPr>
      </p:pic>
      <p:sp>
        <p:nvSpPr>
          <p:cNvPr id="12" name="TextBox 11"/>
          <p:cNvSpPr txBox="1"/>
          <p:nvPr/>
        </p:nvSpPr>
        <p:spPr>
          <a:xfrm>
            <a:off x="3525916" y="3259931"/>
            <a:ext cx="2330291" cy="230832"/>
          </a:xfrm>
          <a:prstGeom prst="rect">
            <a:avLst/>
          </a:prstGeom>
          <a:noFill/>
        </p:spPr>
        <p:txBody>
          <a:bodyPr wrap="square" lIns="0" tIns="0" rIns="0" bIns="0" anchor="t">
            <a:spAutoFit/>
          </a:bodyPr>
          <a:lstStyle/>
          <a:p>
            <a:pPr algn="ctr"/>
            <a:r>
              <a:rPr lang="en-US" sz="1500" b="1" i="0" u="none" dirty="0" smtClean="0">
                <a:solidFill>
                  <a:srgbClr val="0F172A"/>
                </a:solidFill>
                <a:latin typeface="Poppins"/>
              </a:rPr>
              <a:t>Mohammad Ferdous</a:t>
            </a:r>
            <a:endParaRPr sz="1500" b="1" i="0" u="none" dirty="0">
              <a:solidFill>
                <a:srgbClr val="0F172A"/>
              </a:solidFill>
              <a:latin typeface="Poppins"/>
            </a:endParaRPr>
          </a:p>
        </p:txBody>
      </p:sp>
      <p:sp>
        <p:nvSpPr>
          <p:cNvPr id="13" name="TextBox 12"/>
          <p:cNvSpPr txBox="1"/>
          <p:nvPr/>
        </p:nvSpPr>
        <p:spPr>
          <a:xfrm>
            <a:off x="3600062" y="3583781"/>
            <a:ext cx="2219325" cy="197362"/>
          </a:xfrm>
          <a:prstGeom prst="rect">
            <a:avLst/>
          </a:prstGeom>
          <a:noFill/>
        </p:spPr>
        <p:txBody>
          <a:bodyPr wrap="square" lIns="0" tIns="0" rIns="0" bIns="0" anchor="t">
            <a:spAutoFit/>
          </a:bodyPr>
          <a:lstStyle/>
          <a:p>
            <a:pPr algn="ctr">
              <a:lnSpc>
                <a:spcPts val="1687"/>
              </a:lnSpc>
            </a:pPr>
            <a:r>
              <a:rPr sz="1125" b="0" i="0" u="none" dirty="0">
                <a:solidFill>
                  <a:srgbClr val="0284C7"/>
                </a:solidFill>
                <a:latin typeface="Inter SemiBold"/>
              </a:rPr>
              <a:t>ID: </a:t>
            </a:r>
            <a:r>
              <a:rPr sz="1125" b="0" i="0" u="none" dirty="0" smtClean="0">
                <a:solidFill>
                  <a:srgbClr val="0284C7"/>
                </a:solidFill>
                <a:latin typeface="Inter SemiBold"/>
              </a:rPr>
              <a:t>C2</a:t>
            </a:r>
            <a:r>
              <a:rPr lang="en-US" sz="1160" b="0" i="0" u="none" dirty="0" smtClean="0">
                <a:solidFill>
                  <a:srgbClr val="0284C7"/>
                </a:solidFill>
                <a:latin typeface="Inter SemiBold"/>
              </a:rPr>
              <a:t>61006</a:t>
            </a:r>
            <a:endParaRPr sz="1160" b="0" i="0" u="none" dirty="0">
              <a:solidFill>
                <a:srgbClr val="0284C7"/>
              </a:solidFill>
              <a:latin typeface="Inter SemiBold"/>
            </a:endParaRPr>
          </a:p>
        </p:txBody>
      </p:sp>
      <p:pic>
        <p:nvPicPr>
          <p:cNvPr id="14" name="Picture 13" descr="image.png"/>
          <p:cNvPicPr>
            <a:picLocks noChangeAspect="1"/>
          </p:cNvPicPr>
          <p:nvPr/>
        </p:nvPicPr>
        <p:blipFill>
          <a:blip r:embed="rId9"/>
          <a:stretch>
            <a:fillRect/>
          </a:stretch>
        </p:blipFill>
        <p:spPr>
          <a:xfrm>
            <a:off x="7215187" y="2574131"/>
            <a:ext cx="571500" cy="571500"/>
          </a:xfrm>
          <a:prstGeom prst="rect">
            <a:avLst/>
          </a:prstGeom>
        </p:spPr>
      </p:pic>
      <p:sp>
        <p:nvSpPr>
          <p:cNvPr id="15" name="TextBox 14"/>
          <p:cNvSpPr txBox="1"/>
          <p:nvPr/>
        </p:nvSpPr>
        <p:spPr>
          <a:xfrm>
            <a:off x="6335791" y="3259931"/>
            <a:ext cx="2330291" cy="230832"/>
          </a:xfrm>
          <a:prstGeom prst="rect">
            <a:avLst/>
          </a:prstGeom>
          <a:noFill/>
        </p:spPr>
        <p:txBody>
          <a:bodyPr wrap="square" lIns="0" tIns="0" rIns="0" bIns="0" anchor="t">
            <a:spAutoFit/>
          </a:bodyPr>
          <a:lstStyle/>
          <a:p>
            <a:pPr algn="ctr"/>
            <a:r>
              <a:rPr sz="1500" b="1" i="0" u="none" dirty="0" smtClean="0">
                <a:solidFill>
                  <a:srgbClr val="0F172A"/>
                </a:solidFill>
                <a:latin typeface="Poppins"/>
              </a:rPr>
              <a:t>M</a:t>
            </a:r>
            <a:r>
              <a:rPr lang="en-US" sz="1500" b="1" i="0" u="none" dirty="0" smtClean="0">
                <a:solidFill>
                  <a:srgbClr val="0F172A"/>
                </a:solidFill>
                <a:latin typeface="Poppins"/>
              </a:rPr>
              <a:t>ohammad Numan</a:t>
            </a:r>
            <a:endParaRPr sz="1500" b="1" i="0" u="none" dirty="0">
              <a:solidFill>
                <a:srgbClr val="0F172A"/>
              </a:solidFill>
              <a:latin typeface="Poppins"/>
            </a:endParaRPr>
          </a:p>
        </p:txBody>
      </p:sp>
      <p:sp>
        <p:nvSpPr>
          <p:cNvPr id="16" name="TextBox 15"/>
          <p:cNvSpPr txBox="1"/>
          <p:nvPr/>
        </p:nvSpPr>
        <p:spPr>
          <a:xfrm>
            <a:off x="6391275" y="3583781"/>
            <a:ext cx="2219325" cy="218008"/>
          </a:xfrm>
          <a:prstGeom prst="rect">
            <a:avLst/>
          </a:prstGeom>
          <a:noFill/>
        </p:spPr>
        <p:txBody>
          <a:bodyPr wrap="square" lIns="0" tIns="0" rIns="0" bIns="0" anchor="t">
            <a:spAutoFit/>
          </a:bodyPr>
          <a:lstStyle/>
          <a:p>
            <a:pPr algn="ctr">
              <a:lnSpc>
                <a:spcPts val="1687"/>
              </a:lnSpc>
            </a:pPr>
            <a:r>
              <a:rPr sz="1125" b="0" i="0" u="none" dirty="0">
                <a:solidFill>
                  <a:srgbClr val="0284C7"/>
                </a:solidFill>
                <a:latin typeface="Inter SemiBold"/>
              </a:rPr>
              <a:t>ID: </a:t>
            </a:r>
            <a:r>
              <a:rPr sz="1125" b="0" i="0" u="none" dirty="0" smtClean="0">
                <a:solidFill>
                  <a:srgbClr val="0284C7"/>
                </a:solidFill>
                <a:latin typeface="Inter SemiBold"/>
              </a:rPr>
              <a:t>C2</a:t>
            </a:r>
            <a:r>
              <a:rPr lang="en-US" sz="1125" b="0" i="0" u="none" dirty="0" smtClean="0">
                <a:solidFill>
                  <a:srgbClr val="0284C7"/>
                </a:solidFill>
                <a:latin typeface="Inter SemiBold"/>
              </a:rPr>
              <a:t>6</a:t>
            </a:r>
            <a:r>
              <a:rPr sz="1160" b="0" i="0" u="none" dirty="0" smtClean="0">
                <a:solidFill>
                  <a:srgbClr val="0284C7"/>
                </a:solidFill>
                <a:latin typeface="Inter SemiBold"/>
              </a:rPr>
              <a:t>100</a:t>
            </a:r>
            <a:r>
              <a:rPr lang="en-US" sz="1125" b="0" i="0" u="none" dirty="0" smtClean="0">
                <a:solidFill>
                  <a:srgbClr val="0284C7"/>
                </a:solidFill>
                <a:latin typeface="Inter SemiBold"/>
              </a:rPr>
              <a:t>8</a:t>
            </a:r>
            <a:endParaRPr sz="1125" b="0" i="0" u="none" dirty="0">
              <a:solidFill>
                <a:srgbClr val="0284C7"/>
              </a:solidFill>
              <a:latin typeface="Inter SemiBold"/>
            </a:endParaRPr>
          </a:p>
        </p:txBody>
      </p:sp>
      <p:pic>
        <p:nvPicPr>
          <p:cNvPr id="17" name="Picture 16" descr="image.png"/>
          <p:cNvPicPr>
            <a:picLocks noChangeAspect="1"/>
          </p:cNvPicPr>
          <p:nvPr/>
        </p:nvPicPr>
        <p:blipFill>
          <a:blip r:embed="rId7"/>
          <a:stretch>
            <a:fillRect/>
          </a:stretch>
        </p:blipFill>
        <p:spPr>
          <a:xfrm>
            <a:off x="10025062" y="2574131"/>
            <a:ext cx="571500" cy="571500"/>
          </a:xfrm>
          <a:prstGeom prst="rect">
            <a:avLst/>
          </a:prstGeom>
        </p:spPr>
      </p:pic>
      <p:sp>
        <p:nvSpPr>
          <p:cNvPr id="18" name="TextBox 17"/>
          <p:cNvSpPr txBox="1"/>
          <p:nvPr/>
        </p:nvSpPr>
        <p:spPr>
          <a:xfrm>
            <a:off x="9145666" y="3259931"/>
            <a:ext cx="2330291" cy="230832"/>
          </a:xfrm>
          <a:prstGeom prst="rect">
            <a:avLst/>
          </a:prstGeom>
          <a:noFill/>
        </p:spPr>
        <p:txBody>
          <a:bodyPr wrap="square" lIns="0" tIns="0" rIns="0" bIns="0" anchor="t">
            <a:spAutoFit/>
          </a:bodyPr>
          <a:lstStyle/>
          <a:p>
            <a:pPr algn="ctr"/>
            <a:r>
              <a:rPr lang="en-US" sz="1500" b="1" dirty="0" smtClean="0">
                <a:solidFill>
                  <a:srgbClr val="0F172A"/>
                </a:solidFill>
                <a:latin typeface="Poppins"/>
              </a:rPr>
              <a:t>Abrar Siam</a:t>
            </a:r>
            <a:endParaRPr sz="1500" b="1" i="0" u="none" dirty="0">
              <a:solidFill>
                <a:srgbClr val="0F172A"/>
              </a:solidFill>
              <a:latin typeface="Poppins"/>
            </a:endParaRPr>
          </a:p>
        </p:txBody>
      </p:sp>
      <p:sp>
        <p:nvSpPr>
          <p:cNvPr id="19" name="TextBox 18"/>
          <p:cNvSpPr txBox="1"/>
          <p:nvPr/>
        </p:nvSpPr>
        <p:spPr>
          <a:xfrm>
            <a:off x="9201150" y="3583781"/>
            <a:ext cx="2219325" cy="218008"/>
          </a:xfrm>
          <a:prstGeom prst="rect">
            <a:avLst/>
          </a:prstGeom>
          <a:noFill/>
        </p:spPr>
        <p:txBody>
          <a:bodyPr wrap="square" lIns="0" tIns="0" rIns="0" bIns="0" anchor="t">
            <a:spAutoFit/>
          </a:bodyPr>
          <a:lstStyle/>
          <a:p>
            <a:pPr algn="ctr">
              <a:lnSpc>
                <a:spcPts val="1687"/>
              </a:lnSpc>
            </a:pPr>
            <a:r>
              <a:rPr sz="1125" b="0" i="0" u="none" dirty="0">
                <a:solidFill>
                  <a:srgbClr val="0284C7"/>
                </a:solidFill>
                <a:latin typeface="Inter SemiBold"/>
              </a:rPr>
              <a:t>ID: </a:t>
            </a:r>
            <a:r>
              <a:rPr sz="1125" b="0" i="0" u="none" dirty="0" smtClean="0">
                <a:solidFill>
                  <a:srgbClr val="0284C7"/>
                </a:solidFill>
                <a:latin typeface="Inter SemiBold"/>
              </a:rPr>
              <a:t>C2</a:t>
            </a:r>
            <a:r>
              <a:rPr lang="en-US" sz="1125" b="0" i="0" u="none" dirty="0" smtClean="0">
                <a:solidFill>
                  <a:srgbClr val="0284C7"/>
                </a:solidFill>
                <a:latin typeface="Inter SemiBold"/>
              </a:rPr>
              <a:t>61009</a:t>
            </a:r>
            <a:endParaRPr sz="1125" b="0" i="0" u="none" dirty="0">
              <a:solidFill>
                <a:srgbClr val="0284C7"/>
              </a:solidFill>
              <a:latin typeface="Inter SemiBold"/>
            </a:endParaRPr>
          </a:p>
        </p:txBody>
      </p:sp>
      <p:sp>
        <p:nvSpPr>
          <p:cNvPr id="20" name="TextBox 19"/>
          <p:cNvSpPr txBox="1"/>
          <p:nvPr/>
        </p:nvSpPr>
        <p:spPr>
          <a:xfrm>
            <a:off x="933450" y="4474368"/>
            <a:ext cx="3876675" cy="230832"/>
          </a:xfrm>
          <a:prstGeom prst="rect">
            <a:avLst/>
          </a:prstGeom>
          <a:noFill/>
        </p:spPr>
        <p:txBody>
          <a:bodyPr wrap="square" lIns="0" tIns="0" rIns="0" bIns="0" anchor="t">
            <a:spAutoFit/>
          </a:bodyPr>
          <a:lstStyle/>
          <a:p>
            <a:pPr>
              <a:lnSpc>
                <a:spcPts val="1800"/>
              </a:lnSpc>
            </a:pPr>
            <a:r>
              <a:rPr lang="en-US" sz="1600" b="1" dirty="0">
                <a:solidFill>
                  <a:srgbClr val="38BDF8"/>
                </a:solidFill>
                <a:latin typeface="Inter SemiBold"/>
              </a:rPr>
              <a:t>Presented To</a:t>
            </a:r>
            <a:endParaRPr sz="1600" b="1" i="0" u="none" dirty="0">
              <a:solidFill>
                <a:srgbClr val="38BDF8"/>
              </a:solidFill>
              <a:latin typeface="Inter SemiBold"/>
            </a:endParaRPr>
          </a:p>
        </p:txBody>
      </p:sp>
      <p:sp>
        <p:nvSpPr>
          <p:cNvPr id="21" name="TextBox 20"/>
          <p:cNvSpPr txBox="1"/>
          <p:nvPr/>
        </p:nvSpPr>
        <p:spPr>
          <a:xfrm>
            <a:off x="904875" y="4741068"/>
            <a:ext cx="4070508" cy="507831"/>
          </a:xfrm>
          <a:prstGeom prst="rect">
            <a:avLst/>
          </a:prstGeom>
          <a:noFill/>
        </p:spPr>
        <p:txBody>
          <a:bodyPr wrap="square" lIns="0" tIns="0" rIns="0" bIns="0" anchor="t">
            <a:spAutoFit/>
          </a:bodyPr>
          <a:lstStyle/>
          <a:p>
            <a:pPr algn="l"/>
            <a:r>
              <a:rPr lang="en-US" sz="1650" b="1" dirty="0" smtClean="0">
                <a:solidFill>
                  <a:srgbClr val="FFFFFF"/>
                </a:solidFill>
                <a:latin typeface="Poppins"/>
              </a:rPr>
              <a:t>MD.Tanvir Ahammed Shawon</a:t>
            </a:r>
          </a:p>
          <a:p>
            <a:pPr algn="l"/>
            <a:r>
              <a:rPr lang="en-US" sz="1650" b="1" i="0" u="none" dirty="0" smtClean="0">
                <a:solidFill>
                  <a:srgbClr val="FFFFFF"/>
                </a:solidFill>
                <a:latin typeface="Poppins"/>
              </a:rPr>
              <a:t>Lecturer</a:t>
            </a:r>
            <a:endParaRPr sz="1650" b="1" i="0" u="none" dirty="0">
              <a:solidFill>
                <a:srgbClr val="FFFFFF"/>
              </a:solidFill>
              <a:latin typeface="Poppins"/>
            </a:endParaRPr>
          </a:p>
        </p:txBody>
      </p:sp>
      <p:sp>
        <p:nvSpPr>
          <p:cNvPr id="22" name="TextBox 21"/>
          <p:cNvSpPr txBox="1"/>
          <p:nvPr/>
        </p:nvSpPr>
        <p:spPr>
          <a:xfrm>
            <a:off x="8267700" y="4536280"/>
            <a:ext cx="3017520" cy="208199"/>
          </a:xfrm>
          <a:prstGeom prst="rect">
            <a:avLst/>
          </a:prstGeom>
          <a:noFill/>
        </p:spPr>
        <p:txBody>
          <a:bodyPr wrap="square" lIns="0" tIns="0" rIns="0" bIns="0" anchor="t">
            <a:spAutoFit/>
          </a:bodyPr>
          <a:lstStyle/>
          <a:p>
            <a:pPr algn="r">
              <a:lnSpc>
                <a:spcPts val="1800"/>
              </a:lnSpc>
            </a:pPr>
            <a:r>
              <a:rPr sz="1200" b="0" i="0" u="none" dirty="0">
                <a:solidFill>
                  <a:srgbClr val="FFFFFF"/>
                </a:solidFill>
                <a:latin typeface="Inter SemiBold"/>
              </a:rPr>
              <a:t>Department of CSE</a:t>
            </a:r>
          </a:p>
        </p:txBody>
      </p:sp>
      <p:sp>
        <p:nvSpPr>
          <p:cNvPr id="23" name="TextBox 22"/>
          <p:cNvSpPr txBox="1"/>
          <p:nvPr/>
        </p:nvSpPr>
        <p:spPr>
          <a:xfrm>
            <a:off x="8267700" y="4764881"/>
            <a:ext cx="3019425" cy="228600"/>
          </a:xfrm>
          <a:prstGeom prst="rect">
            <a:avLst/>
          </a:prstGeom>
          <a:noFill/>
        </p:spPr>
        <p:txBody>
          <a:bodyPr wrap="square" lIns="0" tIns="0" rIns="0" bIns="0" anchor="t">
            <a:spAutoFit/>
            <a:scene3d>
              <a:camera prst="orthographicFront">
                <a:rot lat="0" lon="0" rev="0"/>
              </a:camera>
              <a:lightRig rig="threePt" dir="t"/>
            </a:scene3d>
          </a:bodyPr>
          <a:lstStyle/>
          <a:p>
            <a:pPr algn="r">
              <a:lnSpc>
                <a:spcPts val="1800"/>
              </a:lnSpc>
            </a:pPr>
            <a:r>
              <a:rPr sz="1200" b="0" i="0" u="none" dirty="0">
                <a:solidFill>
                  <a:srgbClr val="94A3B8"/>
                </a:solidFill>
                <a:latin typeface="Inter"/>
              </a:rPr>
              <a:t>International Islamic University Chittagong</a:t>
            </a:r>
          </a:p>
        </p:txBody>
      </p:sp>
      <p:pic>
        <p:nvPicPr>
          <p:cNvPr id="24" name="Picture 23" descr="image.png"/>
          <p:cNvPicPr>
            <a:picLocks noChangeAspect="1"/>
          </p:cNvPicPr>
          <p:nvPr/>
        </p:nvPicPr>
        <p:blipFill>
          <a:blip r:embed="rId10">
            <a:duotone>
              <a:schemeClr val="accent4">
                <a:shade val="45000"/>
                <a:satMod val="135000"/>
              </a:schemeClr>
              <a:prstClr val="white"/>
            </a:duotone>
          </a:blip>
          <a:stretch>
            <a:fillRect/>
          </a:stretch>
        </p:blipFill>
        <p:spPr>
          <a:xfrm>
            <a:off x="1762125" y="2726531"/>
            <a:ext cx="238125" cy="266700"/>
          </a:xfrm>
          <a:prstGeom prst="rect">
            <a:avLst/>
          </a:prstGeom>
        </p:spPr>
      </p:pic>
      <p:pic>
        <p:nvPicPr>
          <p:cNvPr id="25" name="Picture 24" descr="image.png"/>
          <p:cNvPicPr>
            <a:picLocks noChangeAspect="1"/>
          </p:cNvPicPr>
          <p:nvPr/>
        </p:nvPicPr>
        <p:blipFill>
          <a:blip r:embed="rId10">
            <a:duotone>
              <a:schemeClr val="accent4">
                <a:shade val="45000"/>
                <a:satMod val="135000"/>
              </a:schemeClr>
              <a:prstClr val="white"/>
            </a:duotone>
          </a:blip>
          <a:stretch>
            <a:fillRect/>
          </a:stretch>
        </p:blipFill>
        <p:spPr>
          <a:xfrm>
            <a:off x="4572000" y="2726531"/>
            <a:ext cx="238125" cy="266700"/>
          </a:xfrm>
          <a:prstGeom prst="rect">
            <a:avLst/>
          </a:prstGeom>
        </p:spPr>
      </p:pic>
      <p:pic>
        <p:nvPicPr>
          <p:cNvPr id="26" name="Picture 25" descr="image.png"/>
          <p:cNvPicPr>
            <a:picLocks noChangeAspect="1"/>
          </p:cNvPicPr>
          <p:nvPr/>
        </p:nvPicPr>
        <p:blipFill>
          <a:blip r:embed="rId10">
            <a:duotone>
              <a:schemeClr val="accent4">
                <a:shade val="45000"/>
                <a:satMod val="135000"/>
              </a:schemeClr>
              <a:prstClr val="white"/>
            </a:duotone>
          </a:blip>
          <a:stretch>
            <a:fillRect/>
          </a:stretch>
        </p:blipFill>
        <p:spPr>
          <a:xfrm>
            <a:off x="7381875" y="2726531"/>
            <a:ext cx="238125" cy="266700"/>
          </a:xfrm>
          <a:prstGeom prst="rect">
            <a:avLst/>
          </a:prstGeom>
        </p:spPr>
      </p:pic>
      <p:pic>
        <p:nvPicPr>
          <p:cNvPr id="27" name="Picture 26" descr="image.png"/>
          <p:cNvPicPr>
            <a:picLocks noChangeAspect="1"/>
          </p:cNvPicPr>
          <p:nvPr/>
        </p:nvPicPr>
        <p:blipFill>
          <a:blip r:embed="rId10">
            <a:duotone>
              <a:schemeClr val="accent4">
                <a:shade val="45000"/>
                <a:satMod val="135000"/>
              </a:schemeClr>
              <a:prstClr val="white"/>
            </a:duotone>
          </a:blip>
          <a:stretch>
            <a:fillRect/>
          </a:stretch>
        </p:blipFill>
        <p:spPr>
          <a:xfrm>
            <a:off x="10191750" y="2726531"/>
            <a:ext cx="238125" cy="266700"/>
          </a:xfrm>
          <a:prstGeom prst="rect">
            <a:avLst/>
          </a:prstGeom>
        </p:spPr>
      </p:pic>
      <p:sp>
        <p:nvSpPr>
          <p:cNvPr id="29" name="Rectangle 28">
            <a:extLst>
              <a:ext uri="{FF2B5EF4-FFF2-40B4-BE49-F238E27FC236}">
                <a16:creationId xmlns:a16="http://schemas.microsoft.com/office/drawing/2014/main" id="{879B0B89-268D-4DB4-994D-0475436EAB1F}"/>
              </a:ext>
            </a:extLst>
          </p:cNvPr>
          <p:cNvSpPr/>
          <p:nvPr/>
        </p:nvSpPr>
        <p:spPr>
          <a:xfrm>
            <a:off x="723900" y="762000"/>
            <a:ext cx="101600" cy="1035050"/>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84B3C7AC-B041-421A-B033-5C0F9AC212AB}"/>
              </a:ext>
            </a:extLst>
          </p:cNvPr>
          <p:cNvSpPr txBox="1"/>
          <p:nvPr/>
        </p:nvSpPr>
        <p:spPr>
          <a:xfrm>
            <a:off x="614908" y="1516538"/>
            <a:ext cx="11051550" cy="492443"/>
          </a:xfrm>
          <a:prstGeom prst="rect">
            <a:avLst/>
          </a:prstGeom>
          <a:solidFill>
            <a:schemeClr val="accent5"/>
          </a:solidFill>
          <a:ln>
            <a:noFill/>
          </a:ln>
          <a:effectLst/>
          <a:scene3d>
            <a:camera prst="orthographicFront">
              <a:rot lat="0" lon="0" rev="0"/>
            </a:camera>
            <a:lightRig rig="contrasting" dir="t">
              <a:rot lat="0" lon="0" rev="7800000"/>
            </a:lightRig>
          </a:scene3d>
          <a:sp3d>
            <a:bevelT w="139700" h="139700"/>
          </a:sp3d>
        </p:spPr>
        <p:txBody>
          <a:bodyPr wrap="square" lIns="0" tIns="0" rIns="0" bIns="0" anchor="t">
            <a:spAutoFit/>
          </a:bodyPr>
          <a:lstStyle/>
          <a:p>
            <a:r>
              <a:rPr lang="en-US" sz="3200" b="1" dirty="0"/>
              <a:t>Presented By</a:t>
            </a:r>
            <a:endParaRPr sz="3200" b="1" i="0" u="none" dirty="0">
              <a:solidFill>
                <a:srgbClr val="0F172A"/>
              </a:solidFill>
              <a:latin typeface="Poppins"/>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364CE14-D4CB-4143-B904-C2D81DC56479}"/>
              </a:ext>
            </a:extLst>
          </p:cNvPr>
          <p:cNvSpPr/>
          <p:nvPr/>
        </p:nvSpPr>
        <p:spPr>
          <a:xfrm>
            <a:off x="443346" y="34814"/>
            <a:ext cx="11416145" cy="646331"/>
          </a:xfrm>
          <a:prstGeom prst="rect">
            <a:avLst/>
          </a:prstGeom>
          <a:solidFill>
            <a:schemeClr val="accent5"/>
          </a:solidFill>
        </p:spPr>
        <p:txBody>
          <a:bodyPr wrap="square">
            <a:spAutoFit/>
          </a:bodyPr>
          <a:lstStyle/>
          <a:p>
            <a:pPr algn="ctr"/>
            <a:r>
              <a:rPr lang="en-US" sz="3600" b="1" dirty="0"/>
              <a:t>Table of Contents</a:t>
            </a:r>
          </a:p>
        </p:txBody>
      </p:sp>
      <p:graphicFrame>
        <p:nvGraphicFramePr>
          <p:cNvPr id="7" name="Table 6">
            <a:extLst>
              <a:ext uri="{FF2B5EF4-FFF2-40B4-BE49-F238E27FC236}">
                <a16:creationId xmlns:a16="http://schemas.microsoft.com/office/drawing/2014/main" id="{4A91F117-9C05-45A8-A8A6-E002F28AFE57}"/>
              </a:ext>
            </a:extLst>
          </p:cNvPr>
          <p:cNvGraphicFramePr>
            <a:graphicFrameLocks noGrp="1"/>
          </p:cNvGraphicFramePr>
          <p:nvPr>
            <p:extLst>
              <p:ext uri="{D42A27DB-BD31-4B8C-83A1-F6EECF244321}">
                <p14:modId xmlns:p14="http://schemas.microsoft.com/office/powerpoint/2010/main" val="2211413711"/>
              </p:ext>
            </p:extLst>
          </p:nvPr>
        </p:nvGraphicFramePr>
        <p:xfrm>
          <a:off x="443345" y="894826"/>
          <a:ext cx="11416146" cy="5928360"/>
        </p:xfrm>
        <a:graphic>
          <a:graphicData uri="http://schemas.openxmlformats.org/drawingml/2006/table">
            <a:tbl>
              <a:tblPr firstRow="1" bandRow="1">
                <a:tableStyleId>{FABFCF23-3B69-468F-B69F-88F6DE6A72F2}</a:tableStyleId>
              </a:tblPr>
              <a:tblGrid>
                <a:gridCol w="5708073">
                  <a:extLst>
                    <a:ext uri="{9D8B030D-6E8A-4147-A177-3AD203B41FA5}">
                      <a16:colId xmlns:a16="http://schemas.microsoft.com/office/drawing/2014/main" val="2112396044"/>
                    </a:ext>
                  </a:extLst>
                </a:gridCol>
                <a:gridCol w="5708073">
                  <a:extLst>
                    <a:ext uri="{9D8B030D-6E8A-4147-A177-3AD203B41FA5}">
                      <a16:colId xmlns:a16="http://schemas.microsoft.com/office/drawing/2014/main" val="2513413926"/>
                    </a:ext>
                  </a:extLst>
                </a:gridCol>
              </a:tblGrid>
              <a:tr h="0">
                <a:tc>
                  <a:txBody>
                    <a:bodyPr/>
                    <a:lstStyle/>
                    <a:p>
                      <a:r>
                        <a:rPr lang="en-US" b="1" dirty="0"/>
                        <a:t>Serial No.</a:t>
                      </a:r>
                      <a:endParaRPr lang="en-US" dirty="0"/>
                    </a:p>
                  </a:txBody>
                  <a:tcPr anchor="ctr"/>
                </a:tc>
                <a:tc>
                  <a:txBody>
                    <a:bodyPr/>
                    <a:lstStyle/>
                    <a:p>
                      <a:r>
                        <a:rPr lang="en-US" b="1"/>
                        <a:t>Contents</a:t>
                      </a:r>
                      <a:endParaRPr lang="en-US"/>
                    </a:p>
                  </a:txBody>
                  <a:tcPr anchor="ctr"/>
                </a:tc>
                <a:extLst>
                  <a:ext uri="{0D108BD9-81ED-4DB2-BD59-A6C34878D82A}">
                    <a16:rowId xmlns:a16="http://schemas.microsoft.com/office/drawing/2014/main" val="4183192648"/>
                  </a:ext>
                </a:extLst>
              </a:tr>
              <a:tr h="370840">
                <a:tc>
                  <a:txBody>
                    <a:bodyPr/>
                    <a:lstStyle/>
                    <a:p>
                      <a:r>
                        <a:rPr lang="en-US"/>
                        <a:t>1</a:t>
                      </a:r>
                    </a:p>
                  </a:txBody>
                  <a:tcPr anchor="ctr"/>
                </a:tc>
                <a:tc>
                  <a:txBody>
                    <a:bodyPr/>
                    <a:lstStyle/>
                    <a:p>
                      <a:r>
                        <a:rPr lang="en-US"/>
                        <a:t>Introduction</a:t>
                      </a:r>
                    </a:p>
                  </a:txBody>
                  <a:tcPr anchor="ctr"/>
                </a:tc>
                <a:extLst>
                  <a:ext uri="{0D108BD9-81ED-4DB2-BD59-A6C34878D82A}">
                    <a16:rowId xmlns:a16="http://schemas.microsoft.com/office/drawing/2014/main" val="1675310880"/>
                  </a:ext>
                </a:extLst>
              </a:tr>
              <a:tr h="370840">
                <a:tc>
                  <a:txBody>
                    <a:bodyPr/>
                    <a:lstStyle/>
                    <a:p>
                      <a:r>
                        <a:rPr lang="en-US"/>
                        <a:t>2</a:t>
                      </a:r>
                    </a:p>
                  </a:txBody>
                  <a:tcPr anchor="ctr"/>
                </a:tc>
                <a:tc>
                  <a:txBody>
                    <a:bodyPr/>
                    <a:lstStyle/>
                    <a:p>
                      <a:r>
                        <a:rPr lang="en-US"/>
                        <a:t>Project Objectives</a:t>
                      </a:r>
                    </a:p>
                  </a:txBody>
                  <a:tcPr anchor="ctr"/>
                </a:tc>
                <a:extLst>
                  <a:ext uri="{0D108BD9-81ED-4DB2-BD59-A6C34878D82A}">
                    <a16:rowId xmlns:a16="http://schemas.microsoft.com/office/drawing/2014/main" val="129758803"/>
                  </a:ext>
                </a:extLst>
              </a:tr>
              <a:tr h="370840">
                <a:tc>
                  <a:txBody>
                    <a:bodyPr/>
                    <a:lstStyle/>
                    <a:p>
                      <a:r>
                        <a:rPr lang="en-US"/>
                        <a:t>3</a:t>
                      </a:r>
                    </a:p>
                  </a:txBody>
                  <a:tcPr anchor="ctr"/>
                </a:tc>
                <a:tc>
                  <a:txBody>
                    <a:bodyPr/>
                    <a:lstStyle/>
                    <a:p>
                      <a:r>
                        <a:rPr lang="en-US"/>
                        <a:t>Project Description</a:t>
                      </a:r>
                    </a:p>
                  </a:txBody>
                  <a:tcPr anchor="ctr"/>
                </a:tc>
                <a:extLst>
                  <a:ext uri="{0D108BD9-81ED-4DB2-BD59-A6C34878D82A}">
                    <a16:rowId xmlns:a16="http://schemas.microsoft.com/office/drawing/2014/main" val="2099996862"/>
                  </a:ext>
                </a:extLst>
              </a:tr>
              <a:tr h="370840">
                <a:tc>
                  <a:txBody>
                    <a:bodyPr/>
                    <a:lstStyle/>
                    <a:p>
                      <a:r>
                        <a:rPr lang="en-US"/>
                        <a:t>4</a:t>
                      </a:r>
                    </a:p>
                  </a:txBody>
                  <a:tcPr anchor="ctr"/>
                </a:tc>
                <a:tc>
                  <a:txBody>
                    <a:bodyPr/>
                    <a:lstStyle/>
                    <a:p>
                      <a:r>
                        <a:rPr lang="en-US"/>
                        <a:t>Features</a:t>
                      </a:r>
                    </a:p>
                  </a:txBody>
                  <a:tcPr anchor="ctr"/>
                </a:tc>
                <a:extLst>
                  <a:ext uri="{0D108BD9-81ED-4DB2-BD59-A6C34878D82A}">
                    <a16:rowId xmlns:a16="http://schemas.microsoft.com/office/drawing/2014/main" val="3195651092"/>
                  </a:ext>
                </a:extLst>
              </a:tr>
              <a:tr h="370840">
                <a:tc>
                  <a:txBody>
                    <a:bodyPr/>
                    <a:lstStyle/>
                    <a:p>
                      <a:r>
                        <a:rPr lang="en-US"/>
                        <a:t>5</a:t>
                      </a:r>
                    </a:p>
                  </a:txBody>
                  <a:tcPr anchor="ctr"/>
                </a:tc>
                <a:tc>
                  <a:txBody>
                    <a:bodyPr/>
                    <a:lstStyle/>
                    <a:p>
                      <a:r>
                        <a:rPr lang="en-US"/>
                        <a:t>Functional Requirements</a:t>
                      </a:r>
                    </a:p>
                  </a:txBody>
                  <a:tcPr anchor="ctr"/>
                </a:tc>
                <a:extLst>
                  <a:ext uri="{0D108BD9-81ED-4DB2-BD59-A6C34878D82A}">
                    <a16:rowId xmlns:a16="http://schemas.microsoft.com/office/drawing/2014/main" val="4132010872"/>
                  </a:ext>
                </a:extLst>
              </a:tr>
              <a:tr h="370840">
                <a:tc>
                  <a:txBody>
                    <a:bodyPr/>
                    <a:lstStyle/>
                    <a:p>
                      <a:r>
                        <a:rPr lang="en-US"/>
                        <a:t>6</a:t>
                      </a:r>
                    </a:p>
                  </a:txBody>
                  <a:tcPr anchor="ctr"/>
                </a:tc>
                <a:tc>
                  <a:txBody>
                    <a:bodyPr/>
                    <a:lstStyle/>
                    <a:p>
                      <a:r>
                        <a:rPr lang="en-US"/>
                        <a:t>Input Validation</a:t>
                      </a:r>
                    </a:p>
                  </a:txBody>
                  <a:tcPr anchor="ctr"/>
                </a:tc>
                <a:extLst>
                  <a:ext uri="{0D108BD9-81ED-4DB2-BD59-A6C34878D82A}">
                    <a16:rowId xmlns:a16="http://schemas.microsoft.com/office/drawing/2014/main" val="4163040967"/>
                  </a:ext>
                </a:extLst>
              </a:tr>
              <a:tr h="370840">
                <a:tc>
                  <a:txBody>
                    <a:bodyPr/>
                    <a:lstStyle/>
                    <a:p>
                      <a:r>
                        <a:rPr lang="en-US"/>
                        <a:t>7</a:t>
                      </a:r>
                    </a:p>
                  </a:txBody>
                  <a:tcPr anchor="ctr"/>
                </a:tc>
                <a:tc>
                  <a:txBody>
                    <a:bodyPr/>
                    <a:lstStyle/>
                    <a:p>
                      <a:r>
                        <a:rPr lang="en-US"/>
                        <a:t>System Flow</a:t>
                      </a:r>
                    </a:p>
                  </a:txBody>
                  <a:tcPr anchor="ctr"/>
                </a:tc>
                <a:extLst>
                  <a:ext uri="{0D108BD9-81ED-4DB2-BD59-A6C34878D82A}">
                    <a16:rowId xmlns:a16="http://schemas.microsoft.com/office/drawing/2014/main" val="367162851"/>
                  </a:ext>
                </a:extLst>
              </a:tr>
              <a:tr h="370840">
                <a:tc>
                  <a:txBody>
                    <a:bodyPr/>
                    <a:lstStyle/>
                    <a:p>
                      <a:r>
                        <a:rPr lang="en-US"/>
                        <a:t>8</a:t>
                      </a:r>
                    </a:p>
                  </a:txBody>
                  <a:tcPr anchor="ctr"/>
                </a:tc>
                <a:tc>
                  <a:txBody>
                    <a:bodyPr/>
                    <a:lstStyle/>
                    <a:p>
                      <a:r>
                        <a:rPr lang="en-US"/>
                        <a:t>Tools &amp; Technologies</a:t>
                      </a:r>
                    </a:p>
                  </a:txBody>
                  <a:tcPr anchor="ctr"/>
                </a:tc>
                <a:extLst>
                  <a:ext uri="{0D108BD9-81ED-4DB2-BD59-A6C34878D82A}">
                    <a16:rowId xmlns:a16="http://schemas.microsoft.com/office/drawing/2014/main" val="2581616166"/>
                  </a:ext>
                </a:extLst>
              </a:tr>
              <a:tr h="370840">
                <a:tc>
                  <a:txBody>
                    <a:bodyPr/>
                    <a:lstStyle/>
                    <a:p>
                      <a:r>
                        <a:rPr lang="en-US"/>
                        <a:t>9</a:t>
                      </a:r>
                    </a:p>
                  </a:txBody>
                  <a:tcPr anchor="ctr"/>
                </a:tc>
                <a:tc>
                  <a:txBody>
                    <a:bodyPr/>
                    <a:lstStyle/>
                    <a:p>
                      <a:r>
                        <a:rPr lang="en-US"/>
                        <a:t>Data Structure</a:t>
                      </a:r>
                    </a:p>
                  </a:txBody>
                  <a:tcPr anchor="ctr"/>
                </a:tc>
                <a:extLst>
                  <a:ext uri="{0D108BD9-81ED-4DB2-BD59-A6C34878D82A}">
                    <a16:rowId xmlns:a16="http://schemas.microsoft.com/office/drawing/2014/main" val="1896691379"/>
                  </a:ext>
                </a:extLst>
              </a:tr>
              <a:tr h="370840">
                <a:tc>
                  <a:txBody>
                    <a:bodyPr/>
                    <a:lstStyle/>
                    <a:p>
                      <a:r>
                        <a:rPr lang="en-US"/>
                        <a:t>10</a:t>
                      </a:r>
                    </a:p>
                  </a:txBody>
                  <a:tcPr anchor="ctr"/>
                </a:tc>
                <a:tc>
                  <a:txBody>
                    <a:bodyPr/>
                    <a:lstStyle/>
                    <a:p>
                      <a:r>
                        <a:rPr lang="en-US" dirty="0"/>
                        <a:t>Core System Modules</a:t>
                      </a:r>
                    </a:p>
                  </a:txBody>
                  <a:tcPr anchor="ctr"/>
                </a:tc>
                <a:extLst>
                  <a:ext uri="{0D108BD9-81ED-4DB2-BD59-A6C34878D82A}">
                    <a16:rowId xmlns:a16="http://schemas.microsoft.com/office/drawing/2014/main" val="958496974"/>
                  </a:ext>
                </a:extLst>
              </a:tr>
              <a:tr h="370840">
                <a:tc>
                  <a:txBody>
                    <a:bodyPr/>
                    <a:lstStyle/>
                    <a:p>
                      <a:r>
                        <a:rPr lang="en-US"/>
                        <a:t>11</a:t>
                      </a:r>
                    </a:p>
                  </a:txBody>
                  <a:tcPr anchor="ctr"/>
                </a:tc>
                <a:tc>
                  <a:txBody>
                    <a:bodyPr/>
                    <a:lstStyle/>
                    <a:p>
                      <a:r>
                        <a:rPr lang="en-US"/>
                        <a:t>Sample Output</a:t>
                      </a:r>
                    </a:p>
                  </a:txBody>
                  <a:tcPr anchor="ctr"/>
                </a:tc>
                <a:extLst>
                  <a:ext uri="{0D108BD9-81ED-4DB2-BD59-A6C34878D82A}">
                    <a16:rowId xmlns:a16="http://schemas.microsoft.com/office/drawing/2014/main" val="2318193040"/>
                  </a:ext>
                </a:extLst>
              </a:tr>
              <a:tr h="370840">
                <a:tc>
                  <a:txBody>
                    <a:bodyPr/>
                    <a:lstStyle/>
                    <a:p>
                      <a:r>
                        <a:rPr lang="en-US"/>
                        <a:t>12</a:t>
                      </a:r>
                    </a:p>
                  </a:txBody>
                  <a:tcPr anchor="ctr"/>
                </a:tc>
                <a:tc>
                  <a:txBody>
                    <a:bodyPr/>
                    <a:lstStyle/>
                    <a:p>
                      <a:r>
                        <a:rPr lang="en-US"/>
                        <a:t>Advantages</a:t>
                      </a:r>
                    </a:p>
                  </a:txBody>
                  <a:tcPr anchor="ctr"/>
                </a:tc>
                <a:extLst>
                  <a:ext uri="{0D108BD9-81ED-4DB2-BD59-A6C34878D82A}">
                    <a16:rowId xmlns:a16="http://schemas.microsoft.com/office/drawing/2014/main" val="1011101441"/>
                  </a:ext>
                </a:extLst>
              </a:tr>
              <a:tr h="370840">
                <a:tc>
                  <a:txBody>
                    <a:bodyPr/>
                    <a:lstStyle/>
                    <a:p>
                      <a:r>
                        <a:rPr lang="en-US"/>
                        <a:t>13</a:t>
                      </a:r>
                    </a:p>
                  </a:txBody>
                  <a:tcPr anchor="ctr"/>
                </a:tc>
                <a:tc>
                  <a:txBody>
                    <a:bodyPr/>
                    <a:lstStyle/>
                    <a:p>
                      <a:r>
                        <a:rPr lang="en-US"/>
                        <a:t>Limitations</a:t>
                      </a:r>
                    </a:p>
                  </a:txBody>
                  <a:tcPr anchor="ctr"/>
                </a:tc>
                <a:extLst>
                  <a:ext uri="{0D108BD9-81ED-4DB2-BD59-A6C34878D82A}">
                    <a16:rowId xmlns:a16="http://schemas.microsoft.com/office/drawing/2014/main" val="2656430345"/>
                  </a:ext>
                </a:extLst>
              </a:tr>
              <a:tr h="370840">
                <a:tc>
                  <a:txBody>
                    <a:bodyPr/>
                    <a:lstStyle/>
                    <a:p>
                      <a:r>
                        <a:rPr lang="en-US"/>
                        <a:t>14</a:t>
                      </a:r>
                    </a:p>
                  </a:txBody>
                  <a:tcPr anchor="ctr"/>
                </a:tc>
                <a:tc>
                  <a:txBody>
                    <a:bodyPr/>
                    <a:lstStyle/>
                    <a:p>
                      <a:r>
                        <a:rPr lang="en-US"/>
                        <a:t>Future Improvements</a:t>
                      </a:r>
                    </a:p>
                  </a:txBody>
                  <a:tcPr anchor="ctr"/>
                </a:tc>
                <a:extLst>
                  <a:ext uri="{0D108BD9-81ED-4DB2-BD59-A6C34878D82A}">
                    <a16:rowId xmlns:a16="http://schemas.microsoft.com/office/drawing/2014/main" val="2633088856"/>
                  </a:ext>
                </a:extLst>
              </a:tr>
              <a:tr h="370840">
                <a:tc>
                  <a:txBody>
                    <a:bodyPr/>
                    <a:lstStyle/>
                    <a:p>
                      <a:r>
                        <a:rPr lang="en-US" dirty="0"/>
                        <a:t>15</a:t>
                      </a:r>
                    </a:p>
                  </a:txBody>
                  <a:tcPr anchor="ctr"/>
                </a:tc>
                <a:tc>
                  <a:txBody>
                    <a:bodyPr/>
                    <a:lstStyle/>
                    <a:p>
                      <a:r>
                        <a:rPr lang="en-US" dirty="0"/>
                        <a:t>Conclusion</a:t>
                      </a:r>
                    </a:p>
                  </a:txBody>
                  <a:tcPr anchor="ctr"/>
                </a:tc>
                <a:extLst>
                  <a:ext uri="{0D108BD9-81ED-4DB2-BD59-A6C34878D82A}">
                    <a16:rowId xmlns:a16="http://schemas.microsoft.com/office/drawing/2014/main" val="3115242315"/>
                  </a:ext>
                </a:extLst>
              </a:tr>
            </a:tbl>
          </a:graphicData>
        </a:graphic>
      </p:graphicFrame>
    </p:spTree>
    <p:extLst>
      <p:ext uri="{BB962C8B-B14F-4D97-AF65-F5344CB8AC3E}">
        <p14:creationId xmlns:p14="http://schemas.microsoft.com/office/powerpoint/2010/main" val="150031051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D47BD71-A06D-4E99-9AE3-1E45A23EC82C}"/>
              </a:ext>
            </a:extLst>
          </p:cNvPr>
          <p:cNvSpPr/>
          <p:nvPr/>
        </p:nvSpPr>
        <p:spPr>
          <a:xfrm>
            <a:off x="471714" y="337625"/>
            <a:ext cx="11248572" cy="707886"/>
          </a:xfrm>
          <a:prstGeom prst="rect">
            <a:avLst/>
          </a:prstGeom>
          <a:solidFill>
            <a:schemeClr val="accent5"/>
          </a:solidFill>
        </p:spPr>
        <p:txBody>
          <a:bodyPr wrap="square">
            <a:spAutoFit/>
          </a:bodyPr>
          <a:lstStyle/>
          <a:p>
            <a:pPr algn="ctr"/>
            <a:r>
              <a:rPr lang="en-US" sz="4000" b="1" dirty="0"/>
              <a:t>1. Introduction</a:t>
            </a:r>
            <a:endParaRPr lang="en-US" sz="2400" b="1" dirty="0"/>
          </a:p>
        </p:txBody>
      </p:sp>
      <p:sp>
        <p:nvSpPr>
          <p:cNvPr id="11" name="Rectangle 10">
            <a:extLst>
              <a:ext uri="{FF2B5EF4-FFF2-40B4-BE49-F238E27FC236}">
                <a16:creationId xmlns:a16="http://schemas.microsoft.com/office/drawing/2014/main" id="{7BFAD13C-4B65-42CE-8136-2C88BFB1B1FD}"/>
              </a:ext>
            </a:extLst>
          </p:cNvPr>
          <p:cNvSpPr/>
          <p:nvPr/>
        </p:nvSpPr>
        <p:spPr>
          <a:xfrm>
            <a:off x="471714" y="337625"/>
            <a:ext cx="11248572" cy="707886"/>
          </a:xfrm>
          <a:prstGeom prst="rect">
            <a:avLst/>
          </a:prstGeom>
          <a:solidFill>
            <a:schemeClr val="accent5"/>
          </a:solidFill>
        </p:spPr>
        <p:txBody>
          <a:bodyPr wrap="square">
            <a:spAutoFit/>
          </a:bodyPr>
          <a:lstStyle/>
          <a:p>
            <a:pPr algn="ctr"/>
            <a:r>
              <a:rPr lang="en-US" sz="4000" b="1" dirty="0"/>
              <a:t>1. Introduction</a:t>
            </a:r>
            <a:endParaRPr lang="en-US" sz="2400" b="1" dirty="0"/>
          </a:p>
        </p:txBody>
      </p:sp>
      <p:sp>
        <p:nvSpPr>
          <p:cNvPr id="13" name="TextBox 12">
            <a:extLst>
              <a:ext uri="{FF2B5EF4-FFF2-40B4-BE49-F238E27FC236}">
                <a16:creationId xmlns:a16="http://schemas.microsoft.com/office/drawing/2014/main" id="{9D92572F-B368-4078-A342-29CFDDB38F28}"/>
              </a:ext>
            </a:extLst>
          </p:cNvPr>
          <p:cNvSpPr txBox="1"/>
          <p:nvPr/>
        </p:nvSpPr>
        <p:spPr>
          <a:xfrm>
            <a:off x="471714" y="1279525"/>
            <a:ext cx="11106149" cy="4293483"/>
          </a:xfrm>
          <a:prstGeom prst="rect">
            <a:avLst/>
          </a:prstGeom>
          <a:noFill/>
        </p:spPr>
        <p:txBody>
          <a:bodyPr wrap="square" lIns="0" tIns="0" rIns="0" bIns="0" anchor="t">
            <a:spAutoFit/>
          </a:bodyPr>
          <a:lstStyle/>
          <a:p>
            <a:pPr algn="just"/>
            <a:endParaRPr lang="en-US" sz="2800" b="1" dirty="0"/>
          </a:p>
          <a:p>
            <a:pPr algn="just"/>
            <a:r>
              <a:rPr lang="en-US" sz="2800" b="1" dirty="0"/>
              <a:t>Student Box is a console-based Student Management System developed using the C programming language. The project helps maintain student records efficiently. It allows users to add, display, search, update, delete student information and calculate student CGPA and academic results.</a:t>
            </a:r>
          </a:p>
          <a:p>
            <a:pPr algn="just"/>
            <a:endParaRPr lang="en-US" sz="2800" b="1" dirty="0"/>
          </a:p>
          <a:p>
            <a:pPr algn="just"/>
            <a:endParaRPr lang="en-US" sz="2800" b="1" dirty="0"/>
          </a:p>
          <a:p>
            <a:pPr algn="just"/>
            <a:r>
              <a:rPr lang="en-US" sz="2800" b="1" dirty="0"/>
              <a:t>The system is menu-driven and designed to provide an easy and user-friendly interface</a:t>
            </a:r>
          </a:p>
          <a:p>
            <a:pPr algn="l"/>
            <a:endParaRPr sz="2700" b="1" i="0" u="none" dirty="0">
              <a:solidFill>
                <a:srgbClr val="0F172A"/>
              </a:solidFill>
              <a:latin typeface="Poppins"/>
            </a:endParaRPr>
          </a:p>
        </p:txBody>
      </p:sp>
    </p:spTree>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randombar(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barn(inVertical)">
                                      <p:cBhvr>
                                        <p:cTn id="1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DEC5A1FB-DA36-4849-A836-DBB8149D20E2}"/>
              </a:ext>
            </a:extLst>
          </p:cNvPr>
          <p:cNvSpPr>
            <a:spLocks noChangeArrowheads="1"/>
          </p:cNvSpPr>
          <p:nvPr/>
        </p:nvSpPr>
        <p:spPr bwMode="auto">
          <a:xfrm>
            <a:off x="0" y="-184666"/>
            <a:ext cx="31290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pic>
        <p:nvPicPr>
          <p:cNvPr id="8" name="Picture 7">
            <a:extLst>
              <a:ext uri="{FF2B5EF4-FFF2-40B4-BE49-F238E27FC236}">
                <a16:creationId xmlns:a16="http://schemas.microsoft.com/office/drawing/2014/main" id="{C99EE6E4-5B0B-48A1-B50A-4DA44CA43423}"/>
              </a:ext>
            </a:extLst>
          </p:cNvPr>
          <p:cNvPicPr>
            <a:picLocks noChangeAspect="1"/>
          </p:cNvPicPr>
          <p:nvPr/>
        </p:nvPicPr>
        <p:blipFill>
          <a:blip r:embed="rId2"/>
          <a:stretch>
            <a:fillRect/>
          </a:stretch>
        </p:blipFill>
        <p:spPr>
          <a:xfrm>
            <a:off x="6881049" y="1305341"/>
            <a:ext cx="5310951" cy="4247317"/>
          </a:xfrm>
          <a:prstGeom prst="rect">
            <a:avLst/>
          </a:prstGeom>
        </p:spPr>
      </p:pic>
      <p:sp>
        <p:nvSpPr>
          <p:cNvPr id="9" name="Rectangle 8">
            <a:extLst>
              <a:ext uri="{FF2B5EF4-FFF2-40B4-BE49-F238E27FC236}">
                <a16:creationId xmlns:a16="http://schemas.microsoft.com/office/drawing/2014/main" id="{A8490B83-0C73-4C2B-AA80-86F64D58BB9B}"/>
              </a:ext>
            </a:extLst>
          </p:cNvPr>
          <p:cNvSpPr/>
          <p:nvPr/>
        </p:nvSpPr>
        <p:spPr>
          <a:xfrm>
            <a:off x="723900" y="762000"/>
            <a:ext cx="101600" cy="1035050"/>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9D5A82B-4EFD-4FA6-81C0-A6450C7E3EFC}"/>
              </a:ext>
            </a:extLst>
          </p:cNvPr>
          <p:cNvSpPr/>
          <p:nvPr/>
        </p:nvSpPr>
        <p:spPr>
          <a:xfrm>
            <a:off x="419100" y="1078409"/>
            <a:ext cx="6972300" cy="4247317"/>
          </a:xfrm>
          <a:prstGeom prst="rect">
            <a:avLst/>
          </a:prstGeom>
        </p:spPr>
        <p:txBody>
          <a:bodyPr wrap="square">
            <a:spAutoFit/>
          </a:bodyPr>
          <a:lstStyle/>
          <a:p>
            <a:pPr lvl="0" defTabSz="914400" eaLnBrk="0" fontAlgn="base" hangingPunct="0">
              <a:spcBef>
                <a:spcPct val="0"/>
              </a:spcBef>
              <a:spcAft>
                <a:spcPct val="0"/>
              </a:spcAft>
            </a:pPr>
            <a:endParaRPr lang="en-US" altLang="en-US" dirty="0">
              <a:latin typeface="Arial" panose="020B0604020202020204" pitchFamily="34" charset="0"/>
            </a:endParaRPr>
          </a:p>
          <a:p>
            <a:pPr lvl="0" defTabSz="914400" eaLnBrk="0" fontAlgn="base" hangingPunct="0">
              <a:spcBef>
                <a:spcPct val="0"/>
              </a:spcBef>
              <a:spcAft>
                <a:spcPct val="0"/>
              </a:spcAft>
              <a:buFontTx/>
              <a:buChar char="•"/>
            </a:pPr>
            <a:r>
              <a:rPr lang="en-US" altLang="en-US" sz="2800" dirty="0">
                <a:latin typeface="Arial" panose="020B0604020202020204" pitchFamily="34" charset="0"/>
              </a:rPr>
              <a:t>Store student information. </a:t>
            </a:r>
          </a:p>
          <a:p>
            <a:pPr lvl="0" defTabSz="914400" eaLnBrk="0" fontAlgn="base" hangingPunct="0">
              <a:spcBef>
                <a:spcPct val="0"/>
              </a:spcBef>
              <a:spcAft>
                <a:spcPct val="0"/>
              </a:spcAft>
              <a:buFontTx/>
              <a:buChar char="•"/>
            </a:pPr>
            <a:r>
              <a:rPr lang="en-US" altLang="en-US" sz="2800" dirty="0">
                <a:latin typeface="Arial" panose="020B0604020202020204" pitchFamily="34" charset="0"/>
              </a:rPr>
              <a:t>Search student by Student ID. </a:t>
            </a:r>
          </a:p>
          <a:p>
            <a:pPr lvl="0" defTabSz="914400" eaLnBrk="0" fontAlgn="base" hangingPunct="0">
              <a:spcBef>
                <a:spcPct val="0"/>
              </a:spcBef>
              <a:spcAft>
                <a:spcPct val="0"/>
              </a:spcAft>
              <a:buFontTx/>
              <a:buChar char="•"/>
            </a:pPr>
            <a:r>
              <a:rPr lang="en-US" altLang="en-US" sz="2800" dirty="0">
                <a:latin typeface="Arial" panose="020B0604020202020204" pitchFamily="34" charset="0"/>
              </a:rPr>
              <a:t>Update student information. </a:t>
            </a:r>
          </a:p>
          <a:p>
            <a:pPr lvl="0" defTabSz="914400" eaLnBrk="0" fontAlgn="base" hangingPunct="0">
              <a:spcBef>
                <a:spcPct val="0"/>
              </a:spcBef>
              <a:spcAft>
                <a:spcPct val="0"/>
              </a:spcAft>
              <a:buFontTx/>
              <a:buChar char="•"/>
            </a:pPr>
            <a:r>
              <a:rPr lang="en-US" altLang="en-US" sz="2800" dirty="0">
                <a:latin typeface="Arial" panose="020B0604020202020204" pitchFamily="34" charset="0"/>
              </a:rPr>
              <a:t>Delete student records. </a:t>
            </a:r>
          </a:p>
          <a:p>
            <a:pPr lvl="0" defTabSz="914400" eaLnBrk="0" fontAlgn="base" hangingPunct="0">
              <a:spcBef>
                <a:spcPct val="0"/>
              </a:spcBef>
              <a:spcAft>
                <a:spcPct val="0"/>
              </a:spcAft>
              <a:buFontTx/>
              <a:buChar char="•"/>
            </a:pPr>
            <a:r>
              <a:rPr lang="en-US" altLang="en-US" sz="2800" dirty="0">
                <a:latin typeface="Arial" panose="020B0604020202020204" pitchFamily="34" charset="0"/>
              </a:rPr>
              <a:t>Display all students. </a:t>
            </a:r>
          </a:p>
          <a:p>
            <a:pPr lvl="0" defTabSz="914400" eaLnBrk="0" fontAlgn="base" hangingPunct="0">
              <a:spcBef>
                <a:spcPct val="0"/>
              </a:spcBef>
              <a:spcAft>
                <a:spcPct val="0"/>
              </a:spcAft>
              <a:buFontTx/>
              <a:buChar char="•"/>
            </a:pPr>
            <a:r>
              <a:rPr lang="en-US" altLang="en-US" sz="2800" dirty="0">
                <a:latin typeface="Arial" panose="020B0604020202020204" pitchFamily="34" charset="0"/>
              </a:rPr>
              <a:t>Calculate and display student    CGPA. </a:t>
            </a:r>
          </a:p>
          <a:p>
            <a:pPr lvl="0" defTabSz="914400" eaLnBrk="0" fontAlgn="base" hangingPunct="0">
              <a:spcBef>
                <a:spcPct val="0"/>
              </a:spcBef>
              <a:spcAft>
                <a:spcPct val="0"/>
              </a:spcAft>
              <a:buFontTx/>
              <a:buChar char="•"/>
            </a:pPr>
            <a:r>
              <a:rPr lang="en-US" altLang="en-US" sz="2800" dirty="0">
                <a:latin typeface="Arial" panose="020B0604020202020204" pitchFamily="34" charset="0"/>
              </a:rPr>
              <a:t>Practice File Handling, Structures, Functions and Validation in C Programming</a:t>
            </a:r>
            <a:endParaRPr lang="en-US" sz="2800" dirty="0"/>
          </a:p>
        </p:txBody>
      </p:sp>
      <p:sp>
        <p:nvSpPr>
          <p:cNvPr id="11" name="Rectangle 10">
            <a:extLst>
              <a:ext uri="{FF2B5EF4-FFF2-40B4-BE49-F238E27FC236}">
                <a16:creationId xmlns:a16="http://schemas.microsoft.com/office/drawing/2014/main" id="{82B16BB3-C80F-420B-B33E-895A279ED397}"/>
              </a:ext>
            </a:extLst>
          </p:cNvPr>
          <p:cNvSpPr/>
          <p:nvPr/>
        </p:nvSpPr>
        <p:spPr>
          <a:xfrm>
            <a:off x="419100" y="272534"/>
            <a:ext cx="11506200" cy="707886"/>
          </a:xfrm>
          <a:prstGeom prst="rect">
            <a:avLst/>
          </a:prstGeom>
          <a:solidFill>
            <a:schemeClr val="accent5"/>
          </a:solidFill>
        </p:spPr>
        <p:txBody>
          <a:bodyPr wrap="square">
            <a:spAutoFit/>
          </a:bodyPr>
          <a:lstStyle/>
          <a:p>
            <a:pPr algn="ctr"/>
            <a:r>
              <a:rPr lang="en-US" sz="4000" b="1" dirty="0"/>
              <a:t>2. Project Objectives</a:t>
            </a:r>
          </a:p>
        </p:txBody>
      </p:sp>
    </p:spTree>
    <p:extLst>
      <p:ext uri="{BB962C8B-B14F-4D97-AF65-F5344CB8AC3E}">
        <p14:creationId xmlns:p14="http://schemas.microsoft.com/office/powerpoint/2010/main" val="123654393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arn(inVertic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up)">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heel(1)">
                                      <p:cBhvr>
                                        <p:cTn id="17"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AA2B472-1B4E-4F59-B01A-6427A42824A1}"/>
              </a:ext>
            </a:extLst>
          </p:cNvPr>
          <p:cNvSpPr/>
          <p:nvPr/>
        </p:nvSpPr>
        <p:spPr>
          <a:xfrm>
            <a:off x="723900" y="762000"/>
            <a:ext cx="101600" cy="1035050"/>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BB28F5D-0EAB-45CD-B9C0-819123B4BF8E}"/>
              </a:ext>
            </a:extLst>
          </p:cNvPr>
          <p:cNvSpPr/>
          <p:nvPr/>
        </p:nvSpPr>
        <p:spPr>
          <a:xfrm>
            <a:off x="509752" y="201589"/>
            <a:ext cx="11440510" cy="707886"/>
          </a:xfrm>
          <a:prstGeom prst="rect">
            <a:avLst/>
          </a:prstGeom>
          <a:solidFill>
            <a:schemeClr val="accent5"/>
          </a:solidFill>
        </p:spPr>
        <p:txBody>
          <a:bodyPr wrap="square">
            <a:spAutoFit/>
          </a:bodyPr>
          <a:lstStyle/>
          <a:p>
            <a:pPr algn="ctr"/>
            <a:r>
              <a:rPr lang="en-US" sz="4000" b="1" dirty="0"/>
              <a:t>3. Project Description</a:t>
            </a:r>
            <a:endParaRPr lang="en-US" sz="2000" b="1" dirty="0"/>
          </a:p>
        </p:txBody>
      </p:sp>
      <p:sp>
        <p:nvSpPr>
          <p:cNvPr id="8" name="Rectangle 7">
            <a:extLst>
              <a:ext uri="{FF2B5EF4-FFF2-40B4-BE49-F238E27FC236}">
                <a16:creationId xmlns:a16="http://schemas.microsoft.com/office/drawing/2014/main" id="{4A580A42-5BE2-4534-9C86-0562F3EE7FB0}"/>
              </a:ext>
            </a:extLst>
          </p:cNvPr>
          <p:cNvSpPr/>
          <p:nvPr/>
        </p:nvSpPr>
        <p:spPr>
          <a:xfrm>
            <a:off x="509752" y="1348063"/>
            <a:ext cx="7735614" cy="4401205"/>
          </a:xfrm>
          <a:prstGeom prst="rect">
            <a:avLst/>
          </a:prstGeom>
        </p:spPr>
        <p:txBody>
          <a:bodyPr wrap="square">
            <a:spAutoFit/>
          </a:bodyPr>
          <a:lstStyle/>
          <a:p>
            <a:r>
              <a:rPr lang="en-US" sz="2800" dirty="0"/>
              <a:t>Student Box is developed for maintaining student records of IIUC students. Every student has a unique Student ID.</a:t>
            </a:r>
          </a:p>
          <a:p>
            <a:r>
              <a:rPr lang="en-US" sz="2800" dirty="0"/>
              <a:t>The project validates:</a:t>
            </a:r>
          </a:p>
          <a:p>
            <a:pPr>
              <a:buFont typeface="Arial" panose="020B0604020202020204" pitchFamily="34" charset="0"/>
              <a:buChar char="•"/>
            </a:pPr>
            <a:r>
              <a:rPr lang="en-US" sz="2800" dirty="0"/>
              <a:t>Student ID </a:t>
            </a:r>
          </a:p>
          <a:p>
            <a:pPr>
              <a:buFont typeface="Arial" panose="020B0604020202020204" pitchFamily="34" charset="0"/>
              <a:buChar char="•"/>
            </a:pPr>
            <a:r>
              <a:rPr lang="en-US" sz="2800" dirty="0"/>
              <a:t>Department </a:t>
            </a:r>
          </a:p>
          <a:p>
            <a:pPr>
              <a:buFont typeface="Arial" panose="020B0604020202020204" pitchFamily="34" charset="0"/>
              <a:buChar char="•"/>
            </a:pPr>
            <a:r>
              <a:rPr lang="en-US" sz="2800" dirty="0"/>
              <a:t>Semester </a:t>
            </a:r>
          </a:p>
          <a:p>
            <a:pPr>
              <a:buFont typeface="Arial" panose="020B0604020202020204" pitchFamily="34" charset="0"/>
              <a:buChar char="•"/>
            </a:pPr>
            <a:r>
              <a:rPr lang="en-US" sz="2800" dirty="0"/>
              <a:t>CGPA </a:t>
            </a:r>
          </a:p>
          <a:p>
            <a:r>
              <a:rPr lang="en-US" sz="2800" dirty="0"/>
              <a:t>to ensure correct data entry.</a:t>
            </a:r>
          </a:p>
          <a:p>
            <a:r>
              <a:rPr lang="en-US" sz="2800" dirty="0"/>
              <a:t>The program is completely menu-driven.</a:t>
            </a:r>
          </a:p>
        </p:txBody>
      </p:sp>
    </p:spTree>
    <p:extLst>
      <p:ext uri="{BB962C8B-B14F-4D97-AF65-F5344CB8AC3E}">
        <p14:creationId xmlns:p14="http://schemas.microsoft.com/office/powerpoint/2010/main" val="125474276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B346FCD-8DAC-4B2D-A616-1DF2D8F12400}"/>
              </a:ext>
            </a:extLst>
          </p:cNvPr>
          <p:cNvPicPr>
            <a:picLocks noChangeAspect="1"/>
          </p:cNvPicPr>
          <p:nvPr/>
        </p:nvPicPr>
        <p:blipFill rotWithShape="1">
          <a:blip r:embed="rId2"/>
          <a:srcRect l="6407" t="10644" r="73437" b="53395"/>
          <a:stretch/>
        </p:blipFill>
        <p:spPr>
          <a:xfrm>
            <a:off x="6874129" y="1370439"/>
            <a:ext cx="1104900" cy="1075216"/>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6" name="Picture 5">
            <a:extLst>
              <a:ext uri="{FF2B5EF4-FFF2-40B4-BE49-F238E27FC236}">
                <a16:creationId xmlns:a16="http://schemas.microsoft.com/office/drawing/2014/main" id="{9A0D9993-0D55-41EC-A072-2BB078C9A6C9}"/>
              </a:ext>
            </a:extLst>
          </p:cNvPr>
          <p:cNvPicPr>
            <a:picLocks noChangeAspect="1"/>
          </p:cNvPicPr>
          <p:nvPr/>
        </p:nvPicPr>
        <p:blipFill rotWithShape="1">
          <a:blip r:embed="rId2"/>
          <a:srcRect l="27369" t="12246" r="52475" b="51793"/>
          <a:stretch/>
        </p:blipFill>
        <p:spPr>
          <a:xfrm>
            <a:off x="8667750" y="1370439"/>
            <a:ext cx="1104900" cy="1075216"/>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7" name="Picture 6">
            <a:extLst>
              <a:ext uri="{FF2B5EF4-FFF2-40B4-BE49-F238E27FC236}">
                <a16:creationId xmlns:a16="http://schemas.microsoft.com/office/drawing/2014/main" id="{FD258E17-5331-416C-A626-7BE7A7DEF945}"/>
              </a:ext>
            </a:extLst>
          </p:cNvPr>
          <p:cNvPicPr>
            <a:picLocks noChangeAspect="1"/>
          </p:cNvPicPr>
          <p:nvPr/>
        </p:nvPicPr>
        <p:blipFill rotWithShape="1">
          <a:blip r:embed="rId2"/>
          <a:srcRect l="51903" t="11133" r="27941" b="52906"/>
          <a:stretch/>
        </p:blipFill>
        <p:spPr>
          <a:xfrm>
            <a:off x="10389607" y="1370439"/>
            <a:ext cx="1104900" cy="1075216"/>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8" name="Picture 7">
            <a:extLst>
              <a:ext uri="{FF2B5EF4-FFF2-40B4-BE49-F238E27FC236}">
                <a16:creationId xmlns:a16="http://schemas.microsoft.com/office/drawing/2014/main" id="{F9458856-5C5F-4314-A8E4-C59BA17AB2F1}"/>
              </a:ext>
            </a:extLst>
          </p:cNvPr>
          <p:cNvPicPr>
            <a:picLocks noChangeAspect="1"/>
          </p:cNvPicPr>
          <p:nvPr/>
        </p:nvPicPr>
        <p:blipFill rotWithShape="1">
          <a:blip r:embed="rId2"/>
          <a:srcRect l="72633" t="54550" r="7211" b="9489"/>
          <a:stretch/>
        </p:blipFill>
        <p:spPr>
          <a:xfrm>
            <a:off x="6805286" y="2778524"/>
            <a:ext cx="1104900" cy="1075216"/>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9" name="Picture 8">
            <a:extLst>
              <a:ext uri="{FF2B5EF4-FFF2-40B4-BE49-F238E27FC236}">
                <a16:creationId xmlns:a16="http://schemas.microsoft.com/office/drawing/2014/main" id="{DC7C2653-FFE6-43F4-A964-43A2C4240BE1}"/>
              </a:ext>
            </a:extLst>
          </p:cNvPr>
          <p:cNvPicPr>
            <a:picLocks noChangeAspect="1"/>
          </p:cNvPicPr>
          <p:nvPr/>
        </p:nvPicPr>
        <p:blipFill rotWithShape="1">
          <a:blip r:embed="rId2"/>
          <a:srcRect l="5910" t="55376" r="73934" b="8663"/>
          <a:stretch/>
        </p:blipFill>
        <p:spPr>
          <a:xfrm>
            <a:off x="8667750" y="2891392"/>
            <a:ext cx="1104900" cy="1075216"/>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10" name="Picture 9">
            <a:extLst>
              <a:ext uri="{FF2B5EF4-FFF2-40B4-BE49-F238E27FC236}">
                <a16:creationId xmlns:a16="http://schemas.microsoft.com/office/drawing/2014/main" id="{E1C9E559-0CBF-4854-BD15-249A468BBB9D}"/>
              </a:ext>
            </a:extLst>
          </p:cNvPr>
          <p:cNvPicPr>
            <a:picLocks noChangeAspect="1"/>
          </p:cNvPicPr>
          <p:nvPr/>
        </p:nvPicPr>
        <p:blipFill rotWithShape="1">
          <a:blip r:embed="rId2"/>
          <a:srcRect l="39922" t="35794" r="39922" b="28245"/>
          <a:stretch/>
        </p:blipFill>
        <p:spPr>
          <a:xfrm>
            <a:off x="10389607" y="2891392"/>
            <a:ext cx="1104900" cy="1075216"/>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11" name="Rectangle 10">
            <a:extLst>
              <a:ext uri="{FF2B5EF4-FFF2-40B4-BE49-F238E27FC236}">
                <a16:creationId xmlns:a16="http://schemas.microsoft.com/office/drawing/2014/main" id="{9158839A-EB3E-40F3-A666-6317904B78B4}"/>
              </a:ext>
            </a:extLst>
          </p:cNvPr>
          <p:cNvSpPr/>
          <p:nvPr/>
        </p:nvSpPr>
        <p:spPr>
          <a:xfrm>
            <a:off x="723900" y="762000"/>
            <a:ext cx="101600" cy="1035050"/>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428602C-EAE6-4789-ABC8-4980A8A16E06}"/>
              </a:ext>
            </a:extLst>
          </p:cNvPr>
          <p:cNvSpPr/>
          <p:nvPr/>
        </p:nvSpPr>
        <p:spPr>
          <a:xfrm>
            <a:off x="419101" y="329684"/>
            <a:ext cx="11430000" cy="707886"/>
          </a:xfrm>
          <a:prstGeom prst="rect">
            <a:avLst/>
          </a:prstGeom>
          <a:solidFill>
            <a:schemeClr val="accent5"/>
          </a:solidFill>
        </p:spPr>
        <p:txBody>
          <a:bodyPr wrap="square">
            <a:spAutoFit/>
          </a:bodyPr>
          <a:lstStyle/>
          <a:p>
            <a:pPr algn="ctr"/>
            <a:r>
              <a:rPr lang="en-US" sz="4000" b="1" dirty="0"/>
              <a:t>4. Features</a:t>
            </a:r>
            <a:endParaRPr lang="en-US" sz="1050" b="1" dirty="0"/>
          </a:p>
        </p:txBody>
      </p:sp>
      <p:sp>
        <p:nvSpPr>
          <p:cNvPr id="13" name="Rectangle 12">
            <a:extLst>
              <a:ext uri="{FF2B5EF4-FFF2-40B4-BE49-F238E27FC236}">
                <a16:creationId xmlns:a16="http://schemas.microsoft.com/office/drawing/2014/main" id="{29C65514-88DA-4D80-87DF-EFA903D46675}"/>
              </a:ext>
            </a:extLst>
          </p:cNvPr>
          <p:cNvSpPr/>
          <p:nvPr/>
        </p:nvSpPr>
        <p:spPr>
          <a:xfrm>
            <a:off x="419100" y="1469886"/>
            <a:ext cx="9353550" cy="4031873"/>
          </a:xfrm>
          <a:prstGeom prst="rect">
            <a:avLst/>
          </a:prstGeom>
        </p:spPr>
        <p:txBody>
          <a:bodyPr wrap="square">
            <a:spAutoFit/>
          </a:bodyPr>
          <a:lstStyle/>
          <a:p>
            <a:r>
              <a:rPr lang="en-US" sz="3200" dirty="0"/>
              <a:t>✅ Add Student Information</a:t>
            </a:r>
          </a:p>
          <a:p>
            <a:r>
              <a:rPr lang="en-US" sz="3200" dirty="0"/>
              <a:t>✅ Display All Students</a:t>
            </a:r>
          </a:p>
          <a:p>
            <a:r>
              <a:rPr lang="en-US" sz="3200" dirty="0"/>
              <a:t>✅ Search Student by Student ID</a:t>
            </a:r>
          </a:p>
          <a:p>
            <a:r>
              <a:rPr lang="en-US" sz="3200" dirty="0"/>
              <a:t>✅ Update Student Information</a:t>
            </a:r>
          </a:p>
          <a:p>
            <a:r>
              <a:rPr lang="en-US" sz="3200" dirty="0"/>
              <a:t>✅ Delete Student Information</a:t>
            </a:r>
          </a:p>
          <a:p>
            <a:r>
              <a:rPr lang="en-US" sz="3200" dirty="0"/>
              <a:t>✅ Calculate &amp; Display Student Result/CGPA</a:t>
            </a:r>
          </a:p>
          <a:p>
            <a:r>
              <a:rPr lang="en-US" sz="3200" dirty="0"/>
              <a:t>✅ Input Validation</a:t>
            </a:r>
          </a:p>
          <a:p>
            <a:r>
              <a:rPr lang="en-US" sz="3200" dirty="0"/>
              <a:t>✅ User Friendly Men</a:t>
            </a:r>
          </a:p>
        </p:txBody>
      </p:sp>
    </p:spTree>
    <p:extLst>
      <p:ext uri="{BB962C8B-B14F-4D97-AF65-F5344CB8AC3E}">
        <p14:creationId xmlns:p14="http://schemas.microsoft.com/office/powerpoint/2010/main" val="2230245211"/>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arn(inVertic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1000"/>
                                        <p:tgtEl>
                                          <p:spTgt spid="13"/>
                                        </p:tgtEl>
                                      </p:cBhvr>
                                    </p:animEffect>
                                    <p:anim calcmode="lin" valueType="num">
                                      <p:cBhvr>
                                        <p:cTn id="13" dur="1000" fill="hold"/>
                                        <p:tgtEl>
                                          <p:spTgt spid="13"/>
                                        </p:tgtEl>
                                        <p:attrNameLst>
                                          <p:attrName>ppt_x</p:attrName>
                                        </p:attrNameLst>
                                      </p:cBhvr>
                                      <p:tavLst>
                                        <p:tav tm="0">
                                          <p:val>
                                            <p:strVal val="#ppt_x"/>
                                          </p:val>
                                        </p:tav>
                                        <p:tav tm="100000">
                                          <p:val>
                                            <p:strVal val="#ppt_x"/>
                                          </p:val>
                                        </p:tav>
                                      </p:tavLst>
                                    </p:anim>
                                    <p:anim calcmode="lin" valueType="num">
                                      <p:cBhvr>
                                        <p:cTn id="14"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1" presetClass="entr" presetSubtype="1"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wheel(1)">
                                      <p:cBhvr>
                                        <p:cTn id="19" dur="20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21" presetClass="entr" presetSubtype="1" fill="hold"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heel(1)">
                                      <p:cBhvr>
                                        <p:cTn id="24" dur="200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21" presetClass="entr" presetSubtype="1" fill="hold"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wheel(1)">
                                      <p:cBhvr>
                                        <p:cTn id="29" dur="2000"/>
                                        <p:tgtEl>
                                          <p:spTgt spid="7"/>
                                        </p:tgtEl>
                                      </p:cBhvr>
                                    </p:animEffect>
                                  </p:childTnLst>
                                </p:cTn>
                              </p:par>
                            </p:childTnLst>
                          </p:cTn>
                        </p:par>
                      </p:childTnLst>
                    </p:cTn>
                  </p:par>
                  <p:par>
                    <p:cTn id="30" fill="hold">
                      <p:stCondLst>
                        <p:cond delay="indefinite"/>
                      </p:stCondLst>
                      <p:childTnLst>
                        <p:par>
                          <p:cTn id="31" fill="hold">
                            <p:stCondLst>
                              <p:cond delay="0"/>
                            </p:stCondLst>
                            <p:childTnLst>
                              <p:par>
                                <p:cTn id="32" presetID="21" presetClass="entr" presetSubtype="1" fill="hold" nodeType="click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wheel(1)">
                                      <p:cBhvr>
                                        <p:cTn id="34" dur="2000"/>
                                        <p:tgtEl>
                                          <p:spTgt spid="8"/>
                                        </p:tgtEl>
                                      </p:cBhvr>
                                    </p:animEffect>
                                  </p:childTnLst>
                                </p:cTn>
                              </p:par>
                            </p:childTnLst>
                          </p:cTn>
                        </p:par>
                      </p:childTnLst>
                    </p:cTn>
                  </p:par>
                  <p:par>
                    <p:cTn id="35" fill="hold">
                      <p:stCondLst>
                        <p:cond delay="indefinite"/>
                      </p:stCondLst>
                      <p:childTnLst>
                        <p:par>
                          <p:cTn id="36" fill="hold">
                            <p:stCondLst>
                              <p:cond delay="0"/>
                            </p:stCondLst>
                            <p:childTnLst>
                              <p:par>
                                <p:cTn id="37" presetID="21" presetClass="entr" presetSubtype="1" fill="hold" nodeType="click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wheel(1)">
                                      <p:cBhvr>
                                        <p:cTn id="39" dur="2000"/>
                                        <p:tgtEl>
                                          <p:spTgt spid="9"/>
                                        </p:tgtEl>
                                      </p:cBhvr>
                                    </p:animEffect>
                                  </p:childTnLst>
                                </p:cTn>
                              </p:par>
                            </p:childTnLst>
                          </p:cTn>
                        </p:par>
                      </p:childTnLst>
                    </p:cTn>
                  </p:par>
                  <p:par>
                    <p:cTn id="40" fill="hold">
                      <p:stCondLst>
                        <p:cond delay="indefinite"/>
                      </p:stCondLst>
                      <p:childTnLst>
                        <p:par>
                          <p:cTn id="41" fill="hold">
                            <p:stCondLst>
                              <p:cond delay="0"/>
                            </p:stCondLst>
                            <p:childTnLst>
                              <p:par>
                                <p:cTn id="42" presetID="21" presetClass="entr" presetSubtype="1" fill="hold" nodeType="click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wheel(1)">
                                      <p:cBhvr>
                                        <p:cTn id="44"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55000">
              <a:schemeClr val="accent5">
                <a:lumMod val="60000"/>
                <a:lumOff val="40000"/>
              </a:schemeClr>
            </a:gs>
            <a:gs pos="0">
              <a:schemeClr val="accent5">
                <a:alpha val="94000"/>
              </a:schemeClr>
            </a:gs>
          </a:gsLst>
          <a:lin ang="16200000" scaled="1"/>
        </a:gra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50A8F03-0AFF-49F7-A89E-DB4A73CF4496}"/>
              </a:ext>
            </a:extLst>
          </p:cNvPr>
          <p:cNvSpPr/>
          <p:nvPr/>
        </p:nvSpPr>
        <p:spPr>
          <a:xfrm>
            <a:off x="723900" y="762000"/>
            <a:ext cx="101600" cy="1035050"/>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58B110F6-FAAF-42FE-B563-F78212053492}"/>
              </a:ext>
            </a:extLst>
          </p:cNvPr>
          <p:cNvSpPr/>
          <p:nvPr/>
        </p:nvSpPr>
        <p:spPr>
          <a:xfrm>
            <a:off x="304800" y="320159"/>
            <a:ext cx="11744325" cy="707886"/>
          </a:xfrm>
          <a:prstGeom prst="rect">
            <a:avLst/>
          </a:prstGeom>
          <a:solidFill>
            <a:schemeClr val="accent5"/>
          </a:solidFill>
        </p:spPr>
        <p:txBody>
          <a:bodyPr wrap="square">
            <a:spAutoFit/>
          </a:bodyPr>
          <a:lstStyle/>
          <a:p>
            <a:pPr algn="ctr"/>
            <a:r>
              <a:rPr lang="en-US" sz="4000" b="1" dirty="0"/>
              <a:t>5. Functional Requirements</a:t>
            </a:r>
          </a:p>
        </p:txBody>
      </p:sp>
      <p:sp>
        <p:nvSpPr>
          <p:cNvPr id="10" name="Rectangle 9">
            <a:extLst>
              <a:ext uri="{FF2B5EF4-FFF2-40B4-BE49-F238E27FC236}">
                <a16:creationId xmlns:a16="http://schemas.microsoft.com/office/drawing/2014/main" id="{E50C43C7-EDE9-436B-8981-E7AE4F9A0300}"/>
              </a:ext>
            </a:extLst>
          </p:cNvPr>
          <p:cNvSpPr/>
          <p:nvPr/>
        </p:nvSpPr>
        <p:spPr>
          <a:xfrm>
            <a:off x="304800" y="1069112"/>
            <a:ext cx="6562725" cy="5801588"/>
          </a:xfrm>
          <a:prstGeom prst="rect">
            <a:avLst/>
          </a:prstGeom>
        </p:spPr>
        <p:txBody>
          <a:bodyPr wrap="square">
            <a:spAutoFit/>
          </a:bodyPr>
          <a:lstStyle/>
          <a:p>
            <a:r>
              <a:rPr lang="en-US" sz="600" b="1" dirty="0"/>
              <a:t> ┌───────────────┐</a:t>
            </a:r>
          </a:p>
          <a:p>
            <a:r>
              <a:rPr lang="en-US" sz="600" b="1" dirty="0"/>
              <a:t>                │     START     │</a:t>
            </a:r>
          </a:p>
          <a:p>
            <a:r>
              <a:rPr lang="en-US" sz="600" b="1" dirty="0"/>
              <a:t>                └───────┬───────┘</a:t>
            </a:r>
          </a:p>
          <a:p>
            <a:r>
              <a:rPr lang="en-US" sz="600" b="1" dirty="0"/>
              <a:t>                        │</a:t>
            </a:r>
          </a:p>
          <a:p>
            <a:r>
              <a:rPr lang="en-US" sz="600" b="1" dirty="0"/>
              <a:t>                        ▼</a:t>
            </a:r>
          </a:p>
          <a:p>
            <a:r>
              <a:rPr lang="en-US" sz="600" b="1" dirty="0"/>
              <a:t>          ┌─────────────────────────┐</a:t>
            </a:r>
          </a:p>
          <a:p>
            <a:r>
              <a:rPr lang="en-US" sz="600" b="1" dirty="0"/>
              <a:t>          │      MAIN MENU          │</a:t>
            </a:r>
          </a:p>
          <a:p>
            <a:r>
              <a:rPr lang="en-US" sz="600" b="1" dirty="0"/>
              <a:t>          │ 1. Add Student          │</a:t>
            </a:r>
          </a:p>
          <a:p>
            <a:r>
              <a:rPr lang="en-US" sz="600" b="1" dirty="0"/>
              <a:t>          │ 2. Display Students     │</a:t>
            </a:r>
          </a:p>
          <a:p>
            <a:r>
              <a:rPr lang="en-US" sz="600" b="1" dirty="0"/>
              <a:t>          │ 3. Search Student       │</a:t>
            </a:r>
          </a:p>
          <a:p>
            <a:r>
              <a:rPr lang="en-US" sz="600" b="1" dirty="0"/>
              <a:t>          │ 4. Update Student       │</a:t>
            </a:r>
          </a:p>
          <a:p>
            <a:r>
              <a:rPr lang="en-US" sz="600" b="1" dirty="0"/>
              <a:t>          │ 5. Delete Student       │</a:t>
            </a:r>
          </a:p>
          <a:p>
            <a:r>
              <a:rPr lang="en-US" sz="600" b="1" dirty="0"/>
              <a:t>          │ 6. Result / CGPA        │</a:t>
            </a:r>
          </a:p>
          <a:p>
            <a:r>
              <a:rPr lang="en-US" sz="600" b="1" dirty="0"/>
              <a:t>          │ 7. Exit                 │</a:t>
            </a:r>
          </a:p>
          <a:p>
            <a:r>
              <a:rPr lang="en-US" sz="600" b="1" dirty="0"/>
              <a:t>          └──────────┬──────────────┘</a:t>
            </a:r>
          </a:p>
          <a:p>
            <a:r>
              <a:rPr lang="en-US" sz="600" b="1" dirty="0"/>
              <a:t>                     │</a:t>
            </a:r>
          </a:p>
          <a:p>
            <a:r>
              <a:rPr lang="en-US" sz="600" b="1" dirty="0"/>
              <a:t>        ┌────────────┼─────────────┐</a:t>
            </a:r>
          </a:p>
          <a:p>
            <a:r>
              <a:rPr lang="en-US" sz="600" b="1" dirty="0"/>
              <a:t>        │            │             │</a:t>
            </a:r>
          </a:p>
          <a:p>
            <a:r>
              <a:rPr lang="en-US" sz="600" b="1" dirty="0"/>
              <a:t>        ▼            ▼             ▼</a:t>
            </a:r>
          </a:p>
          <a:p>
            <a:endParaRPr lang="en-US" sz="600" b="1" dirty="0"/>
          </a:p>
          <a:p>
            <a:r>
              <a:rPr lang="en-US" sz="600" b="1" dirty="0"/>
              <a:t>┌────────────────┐ ┌──────────────────┐ ┌─────────────────┐</a:t>
            </a:r>
          </a:p>
          <a:p>
            <a:r>
              <a:rPr lang="en-US" sz="600" b="1" dirty="0"/>
              <a:t>│ Add Student    │ │ Display Students │ │ Search Student  │</a:t>
            </a:r>
          </a:p>
          <a:p>
            <a:r>
              <a:rPr lang="en-US" sz="600" b="1" dirty="0"/>
              <a:t>├────────────────┤ ├──────────────────┤ ├─────────────────┤</a:t>
            </a:r>
          </a:p>
          <a:p>
            <a:r>
              <a:rPr lang="en-US" sz="600" b="1" dirty="0"/>
              <a:t>│ Enter ID       │ │ Show Student     │ │ Enter Student ID│</a:t>
            </a:r>
          </a:p>
          <a:p>
            <a:r>
              <a:rPr lang="en-US" sz="600" b="1" dirty="0"/>
              <a:t>│ Enter Name     │ │ List in Table    │ │ Search Record   │</a:t>
            </a:r>
          </a:p>
          <a:p>
            <a:r>
              <a:rPr lang="en-US" sz="600" b="1" dirty="0"/>
              <a:t>│ Department     │ │                  │ │ Show Details    │</a:t>
            </a:r>
          </a:p>
          <a:p>
            <a:r>
              <a:rPr lang="en-US" sz="600" b="1" dirty="0"/>
              <a:t>│ Semester       │ └─────────┬────────┘ └────────┬────────┘</a:t>
            </a:r>
          </a:p>
          <a:p>
            <a:r>
              <a:rPr lang="en-US" sz="600" b="1" dirty="0"/>
              <a:t>│ CGPA           │           │                   │</a:t>
            </a:r>
          </a:p>
          <a:p>
            <a:r>
              <a:rPr lang="en-US" sz="600" b="1" dirty="0"/>
              <a:t>└────────┬───────┘           │                   │</a:t>
            </a:r>
          </a:p>
          <a:p>
            <a:r>
              <a:rPr lang="en-US" sz="600" b="1" dirty="0"/>
              <a:t>         │                   │                   │</a:t>
            </a:r>
          </a:p>
          <a:p>
            <a:r>
              <a:rPr lang="en-US" sz="600" b="1" dirty="0"/>
              <a:t>         └──────────────┬────┴──────────────┐</a:t>
            </a:r>
          </a:p>
          <a:p>
            <a:r>
              <a:rPr lang="en-US" sz="600" b="1" dirty="0"/>
              <a:t>                        ▼                   ▼</a:t>
            </a:r>
          </a:p>
          <a:p>
            <a:endParaRPr lang="en-US" sz="600" b="1" dirty="0"/>
          </a:p>
          <a:p>
            <a:r>
              <a:rPr lang="en-US" sz="600" b="1" dirty="0"/>
              <a:t>              ┌──────────────────┐   ┌──────────────────┐</a:t>
            </a:r>
          </a:p>
          <a:p>
            <a:r>
              <a:rPr lang="en-US" sz="600" b="1" dirty="0"/>
              <a:t>              │ Update Student   │   │ Delete Student   │</a:t>
            </a:r>
          </a:p>
          <a:p>
            <a:r>
              <a:rPr lang="en-US" sz="600" b="1" dirty="0"/>
              <a:t>              ├──────────────────┤   ├──────────────────┤</a:t>
            </a:r>
          </a:p>
          <a:p>
            <a:r>
              <a:rPr lang="en-US" sz="600" b="1" dirty="0"/>
              <a:t>              │ Enter Student ID │   │ Enter Student ID │</a:t>
            </a:r>
          </a:p>
          <a:p>
            <a:r>
              <a:rPr lang="en-US" sz="600" b="1" dirty="0"/>
              <a:t>              │ Update Data      │   │ Y / N Confirm    │</a:t>
            </a:r>
          </a:p>
          <a:p>
            <a:r>
              <a:rPr lang="en-US" sz="600" b="1" dirty="0"/>
              <a:t>              │ Save Changes     │   │ Delete Record    │</a:t>
            </a:r>
          </a:p>
          <a:p>
            <a:r>
              <a:rPr lang="en-US" sz="600" b="1" dirty="0"/>
              <a:t>              └────────┬─────────┘   └────────┬─────────┘</a:t>
            </a:r>
          </a:p>
          <a:p>
            <a:r>
              <a:rPr lang="en-US" sz="600" b="1" dirty="0"/>
              <a:t>                       │                      │</a:t>
            </a:r>
          </a:p>
          <a:p>
            <a:r>
              <a:rPr lang="en-US" sz="600" b="1" dirty="0"/>
              <a:t>                       └──────────┬───────────┘</a:t>
            </a:r>
          </a:p>
          <a:p>
            <a:r>
              <a:rPr lang="en-US" sz="600" b="1" dirty="0"/>
              <a:t>                                  ▼</a:t>
            </a:r>
          </a:p>
          <a:p>
            <a:endParaRPr lang="en-US" sz="600" b="1" dirty="0"/>
          </a:p>
          <a:p>
            <a:r>
              <a:rPr lang="en-US" sz="600" b="1" dirty="0"/>
              <a:t>                    ┌────────────────────────┐</a:t>
            </a:r>
          </a:p>
          <a:p>
            <a:r>
              <a:rPr lang="en-US" sz="600" b="1" dirty="0"/>
              <a:t>                    │     Result / CGPA      │</a:t>
            </a:r>
          </a:p>
          <a:p>
            <a:r>
              <a:rPr lang="en-US" sz="600" b="1" dirty="0"/>
              <a:t>                    ├────────────────────────┤</a:t>
            </a:r>
          </a:p>
          <a:p>
            <a:r>
              <a:rPr lang="en-US" sz="600" b="1" dirty="0"/>
              <a:t>                    │ Enter Student ID       │</a:t>
            </a:r>
          </a:p>
          <a:p>
            <a:r>
              <a:rPr lang="en-US" sz="600" b="1" dirty="0"/>
              <a:t>                    │ Show CGPA &amp; Grade      │</a:t>
            </a:r>
          </a:p>
          <a:p>
            <a:r>
              <a:rPr lang="en-US" sz="600" b="1" dirty="0"/>
              <a:t>                    └──────────┬─────────────┘</a:t>
            </a:r>
          </a:p>
          <a:p>
            <a:r>
              <a:rPr lang="en-US" sz="600" b="1" dirty="0"/>
              <a:t>                               │</a:t>
            </a:r>
          </a:p>
          <a:p>
            <a:r>
              <a:rPr lang="en-US" sz="600" b="1" dirty="0"/>
              <a:t>                               ▼</a:t>
            </a:r>
          </a:p>
          <a:p>
            <a:r>
              <a:rPr lang="en-US" sz="600" b="1" dirty="0"/>
              <a:t>                     ┌──────────────────┐</a:t>
            </a:r>
          </a:p>
          <a:p>
            <a:r>
              <a:rPr lang="en-US" sz="600" b="1" dirty="0"/>
              <a:t>                     │ Exit Selected ?  │</a:t>
            </a:r>
          </a:p>
          <a:p>
            <a:r>
              <a:rPr lang="en-US" sz="600" b="1" dirty="0"/>
              <a:t>                     └───────┬──────────┘</a:t>
            </a:r>
          </a:p>
          <a:p>
            <a:r>
              <a:rPr lang="en-US" sz="600" b="1" dirty="0"/>
              <a:t>                             │</a:t>
            </a:r>
          </a:p>
          <a:p>
            <a:r>
              <a:rPr lang="en-US" sz="600" b="1" dirty="0"/>
              <a:t>                   Yes ──────┴──────► END</a:t>
            </a:r>
          </a:p>
          <a:p>
            <a:r>
              <a:rPr lang="en-US" sz="600" b="1" dirty="0"/>
              <a:t>                             │</a:t>
            </a:r>
          </a:p>
          <a:p>
            <a:r>
              <a:rPr lang="en-US" sz="600" b="1" dirty="0"/>
              <a:t>                            No</a:t>
            </a:r>
          </a:p>
          <a:p>
            <a:r>
              <a:rPr lang="en-US" sz="600" b="1" dirty="0"/>
              <a:t>                             │</a:t>
            </a:r>
          </a:p>
          <a:p>
            <a:r>
              <a:rPr lang="en-US" sz="600" b="1" dirty="0"/>
              <a:t>                             ▼</a:t>
            </a:r>
          </a:p>
          <a:p>
            <a:r>
              <a:rPr lang="en-US" sz="500" dirty="0"/>
              <a:t>                         MAIN MENU</a:t>
            </a:r>
          </a:p>
        </p:txBody>
      </p:sp>
      <p:pic>
        <p:nvPicPr>
          <p:cNvPr id="12" name="Picture 11">
            <a:extLst>
              <a:ext uri="{FF2B5EF4-FFF2-40B4-BE49-F238E27FC236}">
                <a16:creationId xmlns:a16="http://schemas.microsoft.com/office/drawing/2014/main" id="{F6B3DE40-C4FF-44E4-83D7-255CFF184CE9}"/>
              </a:ext>
            </a:extLst>
          </p:cNvPr>
          <p:cNvPicPr>
            <a:picLocks noChangeAspect="1"/>
          </p:cNvPicPr>
          <p:nvPr/>
        </p:nvPicPr>
        <p:blipFill>
          <a:blip r:embed="rId2"/>
          <a:stretch>
            <a:fillRect/>
          </a:stretch>
        </p:blipFill>
        <p:spPr>
          <a:xfrm>
            <a:off x="3479800" y="1212308"/>
            <a:ext cx="7988300" cy="532553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18590680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additive="base">
                                        <p:cTn id="12" dur="500" fill="hold"/>
                                        <p:tgtEl>
                                          <p:spTgt spid="10"/>
                                        </p:tgtEl>
                                        <p:attrNameLst>
                                          <p:attrName>ppt_x</p:attrName>
                                        </p:attrNameLst>
                                      </p:cBhvr>
                                      <p:tavLst>
                                        <p:tav tm="0">
                                          <p:val>
                                            <p:strVal val="#ppt_x"/>
                                          </p:val>
                                        </p:tav>
                                        <p:tav tm="100000">
                                          <p:val>
                                            <p:strVal val="#ppt_x"/>
                                          </p:val>
                                        </p:tav>
                                      </p:tavLst>
                                    </p:anim>
                                    <p:anim calcmode="lin" valueType="num">
                                      <p:cBhvr additive="base">
                                        <p:cTn id="13"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heel(1)">
                                      <p:cBhvr>
                                        <p:cTn id="18"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572078E-6990-4B28-BEE1-42E20822BA10}"/>
              </a:ext>
            </a:extLst>
          </p:cNvPr>
          <p:cNvSpPr/>
          <p:nvPr/>
        </p:nvSpPr>
        <p:spPr>
          <a:xfrm>
            <a:off x="647700" y="756166"/>
            <a:ext cx="266700" cy="1059934"/>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85FC4023-2583-47B9-AC51-1E5AE1E39023}"/>
              </a:ext>
            </a:extLst>
          </p:cNvPr>
          <p:cNvSpPr/>
          <p:nvPr/>
        </p:nvSpPr>
        <p:spPr>
          <a:xfrm>
            <a:off x="393700" y="164068"/>
            <a:ext cx="11509542" cy="769441"/>
          </a:xfrm>
          <a:prstGeom prst="rect">
            <a:avLst/>
          </a:prstGeom>
          <a:solidFill>
            <a:schemeClr val="accent5"/>
          </a:solidFill>
        </p:spPr>
        <p:txBody>
          <a:bodyPr wrap="square">
            <a:spAutoFit/>
          </a:bodyPr>
          <a:lstStyle/>
          <a:p>
            <a:pPr algn="ctr"/>
            <a:r>
              <a:rPr lang="en-US" sz="4400" b="1" dirty="0"/>
              <a:t>6. Input Validation</a:t>
            </a:r>
          </a:p>
        </p:txBody>
      </p:sp>
      <p:graphicFrame>
        <p:nvGraphicFramePr>
          <p:cNvPr id="5" name="Table 4">
            <a:extLst>
              <a:ext uri="{FF2B5EF4-FFF2-40B4-BE49-F238E27FC236}">
                <a16:creationId xmlns:a16="http://schemas.microsoft.com/office/drawing/2014/main" id="{EA32D85F-89DA-45A4-8D19-70A63B63B61A}"/>
              </a:ext>
            </a:extLst>
          </p:cNvPr>
          <p:cNvGraphicFramePr>
            <a:graphicFrameLocks noGrp="1"/>
          </p:cNvGraphicFramePr>
          <p:nvPr>
            <p:extLst>
              <p:ext uri="{D42A27DB-BD31-4B8C-83A1-F6EECF244321}">
                <p14:modId xmlns:p14="http://schemas.microsoft.com/office/powerpoint/2010/main" val="2615174150"/>
              </p:ext>
            </p:extLst>
          </p:nvPr>
        </p:nvGraphicFramePr>
        <p:xfrm>
          <a:off x="393700" y="1215013"/>
          <a:ext cx="11509542" cy="4768693"/>
        </p:xfrm>
        <a:graphic>
          <a:graphicData uri="http://schemas.openxmlformats.org/drawingml/2006/table">
            <a:tbl>
              <a:tblPr firstRow="1" bandRow="1">
                <a:tableStyleId>{35758FB7-9AC5-4552-8A53-C91805E547FA}</a:tableStyleId>
              </a:tblPr>
              <a:tblGrid>
                <a:gridCol w="2314859">
                  <a:extLst>
                    <a:ext uri="{9D8B030D-6E8A-4147-A177-3AD203B41FA5}">
                      <a16:colId xmlns:a16="http://schemas.microsoft.com/office/drawing/2014/main" val="1081161010"/>
                    </a:ext>
                  </a:extLst>
                </a:gridCol>
                <a:gridCol w="5240121">
                  <a:extLst>
                    <a:ext uri="{9D8B030D-6E8A-4147-A177-3AD203B41FA5}">
                      <a16:colId xmlns:a16="http://schemas.microsoft.com/office/drawing/2014/main" val="555329148"/>
                    </a:ext>
                  </a:extLst>
                </a:gridCol>
                <a:gridCol w="3954562">
                  <a:extLst>
                    <a:ext uri="{9D8B030D-6E8A-4147-A177-3AD203B41FA5}">
                      <a16:colId xmlns:a16="http://schemas.microsoft.com/office/drawing/2014/main" val="2368876166"/>
                    </a:ext>
                  </a:extLst>
                </a:gridCol>
              </a:tblGrid>
              <a:tr h="689547">
                <a:tc>
                  <a:txBody>
                    <a:bodyPr/>
                    <a:lstStyle/>
                    <a:p>
                      <a:pPr algn="l"/>
                      <a:r>
                        <a:rPr sz="2400" b="0" i="0" u="none" dirty="0">
                          <a:solidFill>
                            <a:schemeClr val="tx1"/>
                          </a:solidFill>
                          <a:latin typeface="Inter SemiBold"/>
                        </a:rPr>
                        <a:t>Field Name</a:t>
                      </a:r>
                    </a:p>
                  </a:txBody>
                  <a:tcPr marL="63500" marR="63500" marT="25400" marB="25400" anchor="ctr">
                    <a:solidFill>
                      <a:schemeClr val="accent5">
                        <a:lumMod val="40000"/>
                        <a:lumOff val="60000"/>
                      </a:schemeClr>
                    </a:solidFill>
                  </a:tcPr>
                </a:tc>
                <a:tc>
                  <a:txBody>
                    <a:bodyPr/>
                    <a:lstStyle/>
                    <a:p>
                      <a:pPr algn="l"/>
                      <a:r>
                        <a:rPr sz="2400" b="0" i="0" u="none">
                          <a:solidFill>
                            <a:schemeClr val="tx1"/>
                          </a:solidFill>
                          <a:latin typeface="Inter SemiBold"/>
                        </a:rPr>
                        <a:t>Validation Requirement</a:t>
                      </a:r>
                    </a:p>
                  </a:txBody>
                  <a:tcPr marL="63500" marR="63500" marT="25400" marB="25400" anchor="ctr">
                    <a:solidFill>
                      <a:schemeClr val="accent5">
                        <a:lumMod val="40000"/>
                        <a:lumOff val="60000"/>
                      </a:schemeClr>
                    </a:solidFill>
                  </a:tcPr>
                </a:tc>
                <a:tc>
                  <a:txBody>
                    <a:bodyPr/>
                    <a:lstStyle/>
                    <a:p>
                      <a:pPr algn="l"/>
                      <a:r>
                        <a:rPr sz="2400" b="0" i="0" u="none">
                          <a:solidFill>
                            <a:schemeClr val="tx1"/>
                          </a:solidFill>
                          <a:latin typeface="Inter SemiBold"/>
                        </a:rPr>
                        <a:t>Example / Rule</a:t>
                      </a:r>
                    </a:p>
                  </a:txBody>
                  <a:tcPr marL="63500" marR="63500" marT="25400" marB="25400" anchor="ctr">
                    <a:solidFill>
                      <a:schemeClr val="accent5">
                        <a:lumMod val="40000"/>
                        <a:lumOff val="60000"/>
                      </a:schemeClr>
                    </a:solidFill>
                  </a:tcPr>
                </a:tc>
                <a:extLst>
                  <a:ext uri="{0D108BD9-81ED-4DB2-BD59-A6C34878D82A}">
                    <a16:rowId xmlns:a16="http://schemas.microsoft.com/office/drawing/2014/main" val="3155350589"/>
                  </a:ext>
                </a:extLst>
              </a:tr>
              <a:tr h="601571">
                <a:tc>
                  <a:txBody>
                    <a:bodyPr/>
                    <a:lstStyle/>
                    <a:p>
                      <a:pPr algn="l"/>
                      <a:r>
                        <a:rPr sz="2000" b="1" i="0" u="none">
                          <a:solidFill>
                            <a:schemeClr val="tx1"/>
                          </a:solidFill>
                          <a:latin typeface="Inter"/>
                        </a:rPr>
                        <a:t>Student ID</a:t>
                      </a:r>
                    </a:p>
                  </a:txBody>
                  <a:tcPr marL="63500" marR="63500" marT="25400" marB="25400" anchor="ctr">
                    <a:solidFill>
                      <a:schemeClr val="accent5">
                        <a:lumMod val="40000"/>
                        <a:lumOff val="60000"/>
                      </a:schemeClr>
                    </a:solidFill>
                  </a:tcPr>
                </a:tc>
                <a:tc>
                  <a:txBody>
                    <a:bodyPr/>
                    <a:lstStyle/>
                    <a:p>
                      <a:pPr algn="l"/>
                      <a:r>
                        <a:rPr lang="en-US" sz="2000" b="0" i="0" u="none" dirty="0" smtClean="0">
                          <a:solidFill>
                            <a:schemeClr val="dk1"/>
                          </a:solidFill>
                          <a:latin typeface="+mn-lt"/>
                        </a:rPr>
                        <a:t>Student</a:t>
                      </a:r>
                      <a:r>
                        <a:rPr lang="en-US" sz="2000" b="0" i="0" u="none" baseline="0" dirty="0" smtClean="0">
                          <a:solidFill>
                            <a:schemeClr val="dk1"/>
                          </a:solidFill>
                          <a:latin typeface="+mn-lt"/>
                        </a:rPr>
                        <a:t> ID must be a unique alphanumeric string.</a:t>
                      </a:r>
                      <a:endParaRPr sz="2000" b="0" i="0" u="none" dirty="0">
                        <a:solidFill>
                          <a:schemeClr val="tx1"/>
                        </a:solidFill>
                        <a:latin typeface="Inter"/>
                      </a:endParaRPr>
                    </a:p>
                  </a:txBody>
                  <a:tcPr marL="63500" marR="63500" marT="25400" marB="25400" anchor="ctr">
                    <a:solidFill>
                      <a:schemeClr val="accent5">
                        <a:lumMod val="40000"/>
                        <a:lumOff val="60000"/>
                      </a:schemeClr>
                    </a:solidFill>
                  </a:tcPr>
                </a:tc>
                <a:tc>
                  <a:txBody>
                    <a:bodyPr/>
                    <a:lstStyle/>
                    <a:p>
                      <a:pPr algn="l"/>
                      <a:r>
                        <a:rPr lang="en-US" sz="2000" b="0" i="0" u="none" dirty="0" smtClean="0">
                          <a:solidFill>
                            <a:schemeClr val="tx1"/>
                          </a:solidFill>
                          <a:latin typeface="Inter"/>
                        </a:rPr>
                        <a:t>C261006,E261008,s005</a:t>
                      </a:r>
                      <a:endParaRPr sz="2000" b="0" i="0" u="none" dirty="0">
                        <a:solidFill>
                          <a:schemeClr val="tx1"/>
                        </a:solidFill>
                        <a:latin typeface="Inter"/>
                      </a:endParaRPr>
                    </a:p>
                  </a:txBody>
                  <a:tcPr marL="63500" marR="63500" marT="25400" marB="25400" anchor="ctr">
                    <a:solidFill>
                      <a:schemeClr val="accent5">
                        <a:lumMod val="40000"/>
                        <a:lumOff val="60000"/>
                      </a:schemeClr>
                    </a:solidFill>
                  </a:tcPr>
                </a:tc>
                <a:extLst>
                  <a:ext uri="{0D108BD9-81ED-4DB2-BD59-A6C34878D82A}">
                    <a16:rowId xmlns:a16="http://schemas.microsoft.com/office/drawing/2014/main" val="447847124"/>
                  </a:ext>
                </a:extLst>
              </a:tr>
              <a:tr h="601571">
                <a:tc>
                  <a:txBody>
                    <a:bodyPr/>
                    <a:lstStyle/>
                    <a:p>
                      <a:pPr algn="l"/>
                      <a:r>
                        <a:rPr sz="2000" b="1" i="0" u="none">
                          <a:solidFill>
                            <a:schemeClr val="tx1"/>
                          </a:solidFill>
                          <a:latin typeface="Inter"/>
                        </a:rPr>
                        <a:t>Name</a:t>
                      </a:r>
                    </a:p>
                  </a:txBody>
                  <a:tcPr marL="63500" marR="63500" marT="25400" marB="25400" anchor="ctr">
                    <a:solidFill>
                      <a:schemeClr val="accent5">
                        <a:lumMod val="40000"/>
                        <a:lumOff val="60000"/>
                      </a:schemeClr>
                    </a:solidFill>
                  </a:tcPr>
                </a:tc>
                <a:tc>
                  <a:txBody>
                    <a:bodyPr/>
                    <a:lstStyle/>
                    <a:p>
                      <a:pPr algn="l"/>
                      <a:r>
                        <a:rPr sz="2000" b="0" i="0" u="none">
                          <a:solidFill>
                            <a:schemeClr val="tx1"/>
                          </a:solidFill>
                          <a:latin typeface="Inter"/>
                        </a:rPr>
                        <a:t>Supports alphanumeric characters &amp; spaces</a:t>
                      </a:r>
                    </a:p>
                  </a:txBody>
                  <a:tcPr marL="63500" marR="63500" marT="25400" marB="25400" anchor="ctr">
                    <a:solidFill>
                      <a:schemeClr val="accent5">
                        <a:lumMod val="40000"/>
                        <a:lumOff val="60000"/>
                      </a:schemeClr>
                    </a:solidFill>
                  </a:tcPr>
                </a:tc>
                <a:tc>
                  <a:txBody>
                    <a:bodyPr/>
                    <a:lstStyle/>
                    <a:p>
                      <a:pPr algn="l"/>
                      <a:r>
                        <a:rPr lang="en-US" sz="2000" b="0" i="0" u="none" dirty="0" smtClean="0">
                          <a:solidFill>
                            <a:schemeClr val="tx1"/>
                          </a:solidFill>
                          <a:latin typeface="Inter"/>
                        </a:rPr>
                        <a:t>MD</a:t>
                      </a:r>
                      <a:r>
                        <a:rPr lang="en-US" sz="2000" b="0" i="0" u="none" baseline="0" dirty="0" smtClean="0">
                          <a:solidFill>
                            <a:schemeClr val="tx1"/>
                          </a:solidFill>
                          <a:latin typeface="Inter"/>
                        </a:rPr>
                        <a:t> Ferdous</a:t>
                      </a:r>
                      <a:r>
                        <a:rPr sz="2000" b="0" i="0" u="none" dirty="0" smtClean="0">
                          <a:solidFill>
                            <a:schemeClr val="tx1"/>
                          </a:solidFill>
                          <a:latin typeface="Inter"/>
                        </a:rPr>
                        <a:t> </a:t>
                      </a:r>
                      <a:r>
                        <a:rPr sz="2000" b="0" i="0" u="none" dirty="0">
                          <a:solidFill>
                            <a:schemeClr val="tx1"/>
                          </a:solidFill>
                          <a:latin typeface="Inter"/>
                        </a:rPr>
                        <a:t>01</a:t>
                      </a:r>
                    </a:p>
                  </a:txBody>
                  <a:tcPr marL="63500" marR="63500" marT="25400" marB="25400" anchor="ctr">
                    <a:solidFill>
                      <a:schemeClr val="accent5">
                        <a:lumMod val="40000"/>
                        <a:lumOff val="60000"/>
                      </a:schemeClr>
                    </a:solidFill>
                  </a:tcPr>
                </a:tc>
                <a:extLst>
                  <a:ext uri="{0D108BD9-81ED-4DB2-BD59-A6C34878D82A}">
                    <a16:rowId xmlns:a16="http://schemas.microsoft.com/office/drawing/2014/main" val="2995294209"/>
                  </a:ext>
                </a:extLst>
              </a:tr>
              <a:tr h="1071291">
                <a:tc>
                  <a:txBody>
                    <a:bodyPr/>
                    <a:lstStyle/>
                    <a:p>
                      <a:pPr algn="l"/>
                      <a:r>
                        <a:rPr sz="2000" b="1" i="0" u="none">
                          <a:solidFill>
                            <a:schemeClr val="tx1"/>
                          </a:solidFill>
                          <a:latin typeface="Inter"/>
                        </a:rPr>
                        <a:t>Department</a:t>
                      </a:r>
                    </a:p>
                  </a:txBody>
                  <a:tcPr marL="63500" marR="63500" marT="25400" marB="25400" anchor="ctr">
                    <a:solidFill>
                      <a:schemeClr val="accent5">
                        <a:lumMod val="40000"/>
                        <a:lumOff val="60000"/>
                      </a:schemeClr>
                    </a:solidFill>
                  </a:tcPr>
                </a:tc>
                <a:tc>
                  <a:txBody>
                    <a:bodyPr/>
                    <a:lstStyle/>
                    <a:p>
                      <a:pPr algn="l"/>
                      <a:r>
                        <a:rPr sz="2000" b="0" i="0" u="none" dirty="0">
                          <a:solidFill>
                            <a:schemeClr val="tx1"/>
                          </a:solidFill>
                          <a:latin typeface="Inter"/>
                        </a:rPr>
                        <a:t>Must contain alphabetic letters (Not numbers only)</a:t>
                      </a:r>
                    </a:p>
                  </a:txBody>
                  <a:tcPr marL="63500" marR="63500" marT="25400" marB="25400" anchor="ctr">
                    <a:solidFill>
                      <a:schemeClr val="accent5">
                        <a:lumMod val="40000"/>
                        <a:lumOff val="60000"/>
                      </a:schemeClr>
                    </a:solidFill>
                  </a:tcPr>
                </a:tc>
                <a:tc>
                  <a:txBody>
                    <a:bodyPr/>
                    <a:lstStyle/>
                    <a:p>
                      <a:pPr algn="l"/>
                      <a:r>
                        <a:rPr sz="2000" b="0" i="0" u="none" dirty="0">
                          <a:solidFill>
                            <a:schemeClr val="tx1"/>
                          </a:solidFill>
                          <a:latin typeface="Inter"/>
                        </a:rPr>
                        <a:t>CSE, EEE</a:t>
                      </a:r>
                    </a:p>
                  </a:txBody>
                  <a:tcPr marL="63500" marR="63500" marT="25400" marB="25400" anchor="ctr">
                    <a:solidFill>
                      <a:schemeClr val="accent5">
                        <a:lumMod val="40000"/>
                        <a:lumOff val="60000"/>
                      </a:schemeClr>
                    </a:solidFill>
                  </a:tcPr>
                </a:tc>
                <a:extLst>
                  <a:ext uri="{0D108BD9-81ED-4DB2-BD59-A6C34878D82A}">
                    <a16:rowId xmlns:a16="http://schemas.microsoft.com/office/drawing/2014/main" val="1845811730"/>
                  </a:ext>
                </a:extLst>
              </a:tr>
              <a:tr h="601571">
                <a:tc>
                  <a:txBody>
                    <a:bodyPr/>
                    <a:lstStyle/>
                    <a:p>
                      <a:pPr algn="l"/>
                      <a:r>
                        <a:rPr sz="2000" b="1" i="0" u="none">
                          <a:solidFill>
                            <a:schemeClr val="tx1"/>
                          </a:solidFill>
                          <a:latin typeface="Inter"/>
                        </a:rPr>
                        <a:t>Semester</a:t>
                      </a:r>
                    </a:p>
                  </a:txBody>
                  <a:tcPr marL="63500" marR="63500" marT="25400" marB="25400" anchor="ctr">
                    <a:solidFill>
                      <a:schemeClr val="accent5">
                        <a:lumMod val="40000"/>
                        <a:lumOff val="60000"/>
                      </a:schemeClr>
                    </a:solidFill>
                  </a:tcPr>
                </a:tc>
                <a:tc>
                  <a:txBody>
                    <a:bodyPr/>
                    <a:lstStyle/>
                    <a:p>
                      <a:pPr algn="l"/>
                      <a:r>
                        <a:rPr sz="2000" b="0" i="0" u="none">
                          <a:solidFill>
                            <a:schemeClr val="tx1"/>
                          </a:solidFill>
                          <a:latin typeface="Inter"/>
                        </a:rPr>
                        <a:t>Integer numbers within range 1 to 12 only</a:t>
                      </a:r>
                    </a:p>
                  </a:txBody>
                  <a:tcPr marL="63500" marR="63500" marT="25400" marB="25400" anchor="ctr">
                    <a:solidFill>
                      <a:schemeClr val="accent5">
                        <a:lumMod val="40000"/>
                        <a:lumOff val="60000"/>
                      </a:schemeClr>
                    </a:solidFill>
                  </a:tcPr>
                </a:tc>
                <a:tc>
                  <a:txBody>
                    <a:bodyPr/>
                    <a:lstStyle/>
                    <a:p>
                      <a:pPr algn="l"/>
                      <a:r>
                        <a:rPr sz="2000" b="0" i="0" u="none" dirty="0">
                          <a:solidFill>
                            <a:schemeClr val="tx1"/>
                          </a:solidFill>
                          <a:latin typeface="Inter"/>
                        </a:rPr>
                        <a:t>Range: 1 - 12</a:t>
                      </a:r>
                    </a:p>
                  </a:txBody>
                  <a:tcPr marL="63500" marR="63500" marT="25400" marB="25400" anchor="ctr">
                    <a:solidFill>
                      <a:schemeClr val="accent5">
                        <a:lumMod val="40000"/>
                        <a:lumOff val="60000"/>
                      </a:schemeClr>
                    </a:solidFill>
                  </a:tcPr>
                </a:tc>
                <a:extLst>
                  <a:ext uri="{0D108BD9-81ED-4DB2-BD59-A6C34878D82A}">
                    <a16:rowId xmlns:a16="http://schemas.microsoft.com/office/drawing/2014/main" val="2479366875"/>
                  </a:ext>
                </a:extLst>
              </a:tr>
              <a:tr h="601571">
                <a:tc>
                  <a:txBody>
                    <a:bodyPr/>
                    <a:lstStyle/>
                    <a:p>
                      <a:pPr algn="l"/>
                      <a:r>
                        <a:rPr sz="2000" b="1" i="0" u="none">
                          <a:solidFill>
                            <a:schemeClr val="tx1"/>
                          </a:solidFill>
                          <a:latin typeface="Inter"/>
                        </a:rPr>
                        <a:t>CGPA</a:t>
                      </a:r>
                    </a:p>
                  </a:txBody>
                  <a:tcPr marL="63500" marR="63500" marT="25400" marB="25400" anchor="ctr">
                    <a:solidFill>
                      <a:schemeClr val="accent5">
                        <a:lumMod val="40000"/>
                        <a:lumOff val="60000"/>
                      </a:schemeClr>
                    </a:solidFill>
                  </a:tcPr>
                </a:tc>
                <a:tc>
                  <a:txBody>
                    <a:bodyPr/>
                    <a:lstStyle/>
                    <a:p>
                      <a:pPr algn="l"/>
                      <a:r>
                        <a:rPr sz="2000" b="0" i="0" u="none">
                          <a:solidFill>
                            <a:schemeClr val="tx1"/>
                          </a:solidFill>
                          <a:latin typeface="Inter"/>
                        </a:rPr>
                        <a:t>Floating point numbers within 0.00 to 4.00</a:t>
                      </a:r>
                    </a:p>
                  </a:txBody>
                  <a:tcPr marL="63500" marR="63500" marT="25400" marB="25400" anchor="ctr">
                    <a:solidFill>
                      <a:schemeClr val="accent5">
                        <a:lumMod val="40000"/>
                        <a:lumOff val="60000"/>
                      </a:schemeClr>
                    </a:solidFill>
                  </a:tcPr>
                </a:tc>
                <a:tc>
                  <a:txBody>
                    <a:bodyPr/>
                    <a:lstStyle/>
                    <a:p>
                      <a:pPr algn="l"/>
                      <a:r>
                        <a:rPr sz="2000" b="0" i="0" u="none">
                          <a:solidFill>
                            <a:schemeClr val="tx1"/>
                          </a:solidFill>
                          <a:latin typeface="Inter"/>
                        </a:rPr>
                        <a:t>Range: 0.00 - 4.00</a:t>
                      </a:r>
                    </a:p>
                  </a:txBody>
                  <a:tcPr marL="63500" marR="63500" marT="25400" marB="25400" anchor="ctr">
                    <a:solidFill>
                      <a:schemeClr val="accent5">
                        <a:lumMod val="40000"/>
                        <a:lumOff val="60000"/>
                      </a:schemeClr>
                    </a:solidFill>
                  </a:tcPr>
                </a:tc>
                <a:extLst>
                  <a:ext uri="{0D108BD9-81ED-4DB2-BD59-A6C34878D82A}">
                    <a16:rowId xmlns:a16="http://schemas.microsoft.com/office/drawing/2014/main" val="1271823870"/>
                  </a:ext>
                </a:extLst>
              </a:tr>
              <a:tr h="601571">
                <a:tc>
                  <a:txBody>
                    <a:bodyPr/>
                    <a:lstStyle/>
                    <a:p>
                      <a:pPr algn="l"/>
                      <a:r>
                        <a:rPr sz="2000" b="1" i="0" u="none" dirty="0">
                          <a:solidFill>
                            <a:schemeClr val="tx1"/>
                          </a:solidFill>
                          <a:latin typeface="Inter"/>
                        </a:rPr>
                        <a:t>Delete Action</a:t>
                      </a:r>
                    </a:p>
                  </a:txBody>
                  <a:tcPr marL="63500" marR="63500" marT="25400" marB="25400" anchor="ctr">
                    <a:solidFill>
                      <a:schemeClr val="accent5">
                        <a:lumMod val="40000"/>
                        <a:lumOff val="60000"/>
                      </a:schemeClr>
                    </a:solidFill>
                  </a:tcPr>
                </a:tc>
                <a:tc>
                  <a:txBody>
                    <a:bodyPr/>
                    <a:lstStyle/>
                    <a:p>
                      <a:pPr algn="l"/>
                      <a:r>
                        <a:rPr sz="2000" b="0" i="0" u="none">
                          <a:solidFill>
                            <a:schemeClr val="tx1"/>
                          </a:solidFill>
                          <a:latin typeface="Inter"/>
                        </a:rPr>
                        <a:t>Requires confirmation character prompt</a:t>
                      </a:r>
                    </a:p>
                  </a:txBody>
                  <a:tcPr marL="63500" marR="63500" marT="25400" marB="25400" anchor="ctr">
                    <a:solidFill>
                      <a:schemeClr val="accent5">
                        <a:lumMod val="40000"/>
                        <a:lumOff val="60000"/>
                      </a:schemeClr>
                    </a:solidFill>
                  </a:tcPr>
                </a:tc>
                <a:tc>
                  <a:txBody>
                    <a:bodyPr/>
                    <a:lstStyle/>
                    <a:p>
                      <a:pPr algn="l"/>
                      <a:r>
                        <a:rPr sz="2000" b="0" i="0" u="none" dirty="0" smtClean="0">
                          <a:solidFill>
                            <a:schemeClr val="tx1"/>
                          </a:solidFill>
                          <a:latin typeface="Inter"/>
                        </a:rPr>
                        <a:t>'</a:t>
                      </a:r>
                      <a:r>
                        <a:rPr lang="en-US" sz="2000" b="0" i="0" u="none" dirty="0" smtClean="0">
                          <a:solidFill>
                            <a:schemeClr val="tx1"/>
                          </a:solidFill>
                          <a:latin typeface="Inter"/>
                        </a:rPr>
                        <a:t>Yes</a:t>
                      </a:r>
                      <a:r>
                        <a:rPr sz="2000" b="0" i="0" u="none" dirty="0" smtClean="0">
                          <a:solidFill>
                            <a:schemeClr val="tx1"/>
                          </a:solidFill>
                          <a:latin typeface="Inter"/>
                        </a:rPr>
                        <a:t>' </a:t>
                      </a:r>
                      <a:r>
                        <a:rPr sz="2000" b="0" i="0" u="none" dirty="0">
                          <a:solidFill>
                            <a:schemeClr val="tx1"/>
                          </a:solidFill>
                          <a:latin typeface="Inter"/>
                        </a:rPr>
                        <a:t>or </a:t>
                      </a:r>
                      <a:r>
                        <a:rPr sz="2000" b="0" i="0" u="none" dirty="0" smtClean="0">
                          <a:solidFill>
                            <a:schemeClr val="tx1"/>
                          </a:solidFill>
                          <a:latin typeface="Inter"/>
                        </a:rPr>
                        <a:t>'</a:t>
                      </a:r>
                      <a:r>
                        <a:rPr lang="en-US" sz="2000" b="0" i="0" u="none" dirty="0" smtClean="0">
                          <a:solidFill>
                            <a:schemeClr val="tx1"/>
                          </a:solidFill>
                          <a:latin typeface="Inter"/>
                        </a:rPr>
                        <a:t>No</a:t>
                      </a:r>
                      <a:r>
                        <a:rPr sz="2000" b="0" i="0" u="none" dirty="0" smtClean="0">
                          <a:solidFill>
                            <a:schemeClr val="tx1"/>
                          </a:solidFill>
                          <a:latin typeface="Inter"/>
                        </a:rPr>
                        <a:t>'</a:t>
                      </a:r>
                      <a:endParaRPr sz="2000" b="0" i="0" u="none" dirty="0">
                        <a:solidFill>
                          <a:schemeClr val="tx1"/>
                        </a:solidFill>
                        <a:latin typeface="Inter"/>
                      </a:endParaRPr>
                    </a:p>
                  </a:txBody>
                  <a:tcPr marL="63500" marR="63500" marT="25400" marB="25400" anchor="ctr">
                    <a:solidFill>
                      <a:schemeClr val="accent5">
                        <a:lumMod val="40000"/>
                        <a:lumOff val="60000"/>
                      </a:schemeClr>
                    </a:solidFill>
                  </a:tcPr>
                </a:tc>
                <a:extLst>
                  <a:ext uri="{0D108BD9-81ED-4DB2-BD59-A6C34878D82A}">
                    <a16:rowId xmlns:a16="http://schemas.microsoft.com/office/drawing/2014/main" val="1472143720"/>
                  </a:ext>
                </a:extLst>
              </a:tr>
            </a:tbl>
          </a:graphicData>
        </a:graphic>
      </p:graphicFrame>
    </p:spTree>
    <p:extLst>
      <p:ext uri="{BB962C8B-B14F-4D97-AF65-F5344CB8AC3E}">
        <p14:creationId xmlns:p14="http://schemas.microsoft.com/office/powerpoint/2010/main" val="130753937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out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357448D-F624-47A8-AB61-278ED50CB1BC}"/>
              </a:ext>
            </a:extLst>
          </p:cNvPr>
          <p:cNvSpPr/>
          <p:nvPr/>
        </p:nvSpPr>
        <p:spPr>
          <a:xfrm>
            <a:off x="647700" y="756166"/>
            <a:ext cx="266700" cy="1059934"/>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460E5E23-F6A7-487E-A17E-EF2F1BF77721}"/>
              </a:ext>
            </a:extLst>
          </p:cNvPr>
          <p:cNvSpPr/>
          <p:nvPr/>
        </p:nvSpPr>
        <p:spPr>
          <a:xfrm>
            <a:off x="647700" y="399159"/>
            <a:ext cx="11175330" cy="707886"/>
          </a:xfrm>
          <a:prstGeom prst="rect">
            <a:avLst/>
          </a:prstGeom>
          <a:solidFill>
            <a:schemeClr val="accent5"/>
          </a:solidFill>
        </p:spPr>
        <p:txBody>
          <a:bodyPr wrap="square">
            <a:spAutoFit/>
          </a:bodyPr>
          <a:lstStyle/>
          <a:p>
            <a:pPr algn="ctr"/>
            <a:r>
              <a:rPr lang="en-US" sz="4000" b="1" dirty="0"/>
              <a:t>7. System Flow/Program Output</a:t>
            </a:r>
          </a:p>
        </p:txBody>
      </p:sp>
      <p:sp>
        <p:nvSpPr>
          <p:cNvPr id="4" name="Rectangle 3">
            <a:extLst>
              <a:ext uri="{FF2B5EF4-FFF2-40B4-BE49-F238E27FC236}">
                <a16:creationId xmlns:a16="http://schemas.microsoft.com/office/drawing/2014/main" id="{F2AF266A-532F-4C7B-98B1-4063C6283671}"/>
              </a:ext>
            </a:extLst>
          </p:cNvPr>
          <p:cNvSpPr/>
          <p:nvPr/>
        </p:nvSpPr>
        <p:spPr>
          <a:xfrm>
            <a:off x="1403182" y="1286133"/>
            <a:ext cx="1612734" cy="5232202"/>
          </a:xfrm>
          <a:prstGeom prst="rect">
            <a:avLst/>
          </a:prstGeom>
        </p:spPr>
        <p:txBody>
          <a:bodyPr wrap="square">
            <a:spAutoFit/>
          </a:bodyPr>
          <a:lstStyle/>
          <a:p>
            <a:r>
              <a:rPr lang="en-US" sz="2000" dirty="0"/>
              <a:t>Start</a:t>
            </a:r>
          </a:p>
          <a:p>
            <a:endParaRPr lang="en-US" sz="2000" dirty="0"/>
          </a:p>
          <a:p>
            <a:r>
              <a:rPr lang="en-US" sz="2000" dirty="0"/>
              <a:t>↓</a:t>
            </a:r>
          </a:p>
          <a:p>
            <a:endParaRPr lang="en-US" sz="2000" dirty="0"/>
          </a:p>
          <a:p>
            <a:r>
              <a:rPr lang="en-US" sz="2000" dirty="0"/>
              <a:t>Main Menu</a:t>
            </a:r>
          </a:p>
          <a:p>
            <a:endParaRPr lang="en-US" sz="2000" dirty="0"/>
          </a:p>
          <a:p>
            <a:r>
              <a:rPr lang="en-US" sz="2000" dirty="0"/>
              <a:t>↓</a:t>
            </a:r>
          </a:p>
          <a:p>
            <a:endParaRPr lang="en-US" sz="2000" dirty="0"/>
          </a:p>
          <a:p>
            <a:r>
              <a:rPr lang="en-US" sz="2000" dirty="0"/>
              <a:t>Add Student</a:t>
            </a:r>
          </a:p>
          <a:p>
            <a:endParaRPr lang="en-US" sz="2000" dirty="0"/>
          </a:p>
          <a:p>
            <a:r>
              <a:rPr lang="en-US" sz="2000" dirty="0"/>
              <a:t>↓</a:t>
            </a:r>
          </a:p>
          <a:p>
            <a:endParaRPr lang="en-US" sz="2000" dirty="0"/>
          </a:p>
          <a:p>
            <a:r>
              <a:rPr lang="en-US" sz="2000" dirty="0"/>
              <a:t>Display Student</a:t>
            </a:r>
          </a:p>
          <a:p>
            <a:endParaRPr lang="en-US" sz="2000" dirty="0"/>
          </a:p>
          <a:p>
            <a:r>
              <a:rPr lang="en-US" sz="2000" dirty="0"/>
              <a:t>↓</a:t>
            </a:r>
          </a:p>
          <a:p>
            <a:endParaRPr lang="en-US" sz="1400" dirty="0"/>
          </a:p>
        </p:txBody>
      </p:sp>
      <p:sp>
        <p:nvSpPr>
          <p:cNvPr id="5" name="Rectangle 4">
            <a:extLst>
              <a:ext uri="{FF2B5EF4-FFF2-40B4-BE49-F238E27FC236}">
                <a16:creationId xmlns:a16="http://schemas.microsoft.com/office/drawing/2014/main" id="{A93FE77C-3BDE-49C0-A89B-50C0FD4809D4}"/>
              </a:ext>
            </a:extLst>
          </p:cNvPr>
          <p:cNvSpPr/>
          <p:nvPr/>
        </p:nvSpPr>
        <p:spPr>
          <a:xfrm>
            <a:off x="3320715" y="3583795"/>
            <a:ext cx="3721769" cy="2585323"/>
          </a:xfrm>
          <a:prstGeom prst="rect">
            <a:avLst/>
          </a:prstGeom>
        </p:spPr>
        <p:txBody>
          <a:bodyPr wrap="square">
            <a:spAutoFit/>
          </a:bodyPr>
          <a:lstStyle/>
          <a:p>
            <a:r>
              <a:rPr lang="en-US" dirty="0"/>
              <a:t>Delete Student</a:t>
            </a:r>
          </a:p>
          <a:p>
            <a:endParaRPr lang="en-US" dirty="0"/>
          </a:p>
          <a:p>
            <a:r>
              <a:rPr lang="en-US" dirty="0"/>
              <a:t>↓</a:t>
            </a:r>
          </a:p>
          <a:p>
            <a:endParaRPr lang="en-US" dirty="0"/>
          </a:p>
          <a:p>
            <a:r>
              <a:rPr lang="en-US" dirty="0"/>
              <a:t>Calculate Result</a:t>
            </a:r>
          </a:p>
          <a:p>
            <a:endParaRPr lang="en-US" dirty="0"/>
          </a:p>
          <a:p>
            <a:r>
              <a:rPr lang="en-US" dirty="0"/>
              <a:t>↓</a:t>
            </a:r>
          </a:p>
          <a:p>
            <a:endParaRPr lang="en-US" dirty="0"/>
          </a:p>
          <a:p>
            <a:r>
              <a:rPr lang="en-US" dirty="0"/>
              <a:t>Exit</a:t>
            </a:r>
          </a:p>
        </p:txBody>
      </p:sp>
      <p:sp>
        <p:nvSpPr>
          <p:cNvPr id="6" name="Rectangle 5">
            <a:extLst>
              <a:ext uri="{FF2B5EF4-FFF2-40B4-BE49-F238E27FC236}">
                <a16:creationId xmlns:a16="http://schemas.microsoft.com/office/drawing/2014/main" id="{6F3A2D3A-E4F2-43B2-B820-29AEF5AF72A9}"/>
              </a:ext>
            </a:extLst>
          </p:cNvPr>
          <p:cNvSpPr/>
          <p:nvPr/>
        </p:nvSpPr>
        <p:spPr>
          <a:xfrm>
            <a:off x="3320715" y="1191258"/>
            <a:ext cx="6096000" cy="2308324"/>
          </a:xfrm>
          <a:prstGeom prst="rect">
            <a:avLst/>
          </a:prstGeom>
        </p:spPr>
        <p:txBody>
          <a:bodyPr>
            <a:spAutoFit/>
          </a:bodyPr>
          <a:lstStyle/>
          <a:p>
            <a:r>
              <a:rPr lang="en-US" dirty="0"/>
              <a:t>↓</a:t>
            </a:r>
          </a:p>
          <a:p>
            <a:r>
              <a:rPr lang="en-US" dirty="0"/>
              <a:t>Search Student</a:t>
            </a:r>
          </a:p>
          <a:p>
            <a:endParaRPr lang="en-US" dirty="0"/>
          </a:p>
          <a:p>
            <a:r>
              <a:rPr lang="en-US" dirty="0"/>
              <a:t>↓</a:t>
            </a:r>
          </a:p>
          <a:p>
            <a:endParaRPr lang="en-US" dirty="0"/>
          </a:p>
          <a:p>
            <a:r>
              <a:rPr lang="en-US" dirty="0"/>
              <a:t>Update Student</a:t>
            </a:r>
          </a:p>
          <a:p>
            <a:endParaRPr lang="en-US" dirty="0"/>
          </a:p>
          <a:p>
            <a:r>
              <a:rPr lang="en-US" dirty="0"/>
              <a:t>↓</a:t>
            </a:r>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81599" y="1362160"/>
            <a:ext cx="6942862" cy="4740059"/>
          </a:xfrm>
          <a:prstGeom prst="rect">
            <a:avLst/>
          </a:prstGeom>
        </p:spPr>
      </p:pic>
    </p:spTree>
    <p:extLst>
      <p:ext uri="{BB962C8B-B14F-4D97-AF65-F5344CB8AC3E}">
        <p14:creationId xmlns:p14="http://schemas.microsoft.com/office/powerpoint/2010/main" val="14924535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6"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barn(inHorizontal)">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6"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barn(inHorizontal)">
                                      <p:cBhvr>
                                        <p:cTn id="2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7604CB2-C8FB-4221-B202-A7094711488D}"/>
              </a:ext>
            </a:extLst>
          </p:cNvPr>
          <p:cNvSpPr/>
          <p:nvPr/>
        </p:nvSpPr>
        <p:spPr>
          <a:xfrm>
            <a:off x="689811" y="770021"/>
            <a:ext cx="224589" cy="1219200"/>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A826753C-A7C9-4B28-A123-97B181A8A182}"/>
              </a:ext>
            </a:extLst>
          </p:cNvPr>
          <p:cNvSpPr/>
          <p:nvPr/>
        </p:nvSpPr>
        <p:spPr>
          <a:xfrm>
            <a:off x="352926" y="292587"/>
            <a:ext cx="11149263" cy="707886"/>
          </a:xfrm>
          <a:prstGeom prst="rect">
            <a:avLst/>
          </a:prstGeom>
          <a:solidFill>
            <a:schemeClr val="accent5"/>
          </a:solidFill>
        </p:spPr>
        <p:txBody>
          <a:bodyPr wrap="square">
            <a:spAutoFit/>
          </a:bodyPr>
          <a:lstStyle/>
          <a:p>
            <a:pPr algn="ctr"/>
            <a:r>
              <a:rPr lang="en-US" sz="4000" b="1" dirty="0"/>
              <a:t>8. Tools &amp; Technologies</a:t>
            </a:r>
          </a:p>
        </p:txBody>
      </p:sp>
      <p:graphicFrame>
        <p:nvGraphicFramePr>
          <p:cNvPr id="4" name="Table 3">
            <a:extLst>
              <a:ext uri="{FF2B5EF4-FFF2-40B4-BE49-F238E27FC236}">
                <a16:creationId xmlns:a16="http://schemas.microsoft.com/office/drawing/2014/main" id="{F9CEF015-3E06-402B-BE6C-977EA5833FEA}"/>
              </a:ext>
            </a:extLst>
          </p:cNvPr>
          <p:cNvGraphicFramePr>
            <a:graphicFrameLocks noGrp="1"/>
          </p:cNvGraphicFramePr>
          <p:nvPr>
            <p:extLst>
              <p:ext uri="{D42A27DB-BD31-4B8C-83A1-F6EECF244321}">
                <p14:modId xmlns:p14="http://schemas.microsoft.com/office/powerpoint/2010/main" val="154385637"/>
              </p:ext>
            </p:extLst>
          </p:nvPr>
        </p:nvGraphicFramePr>
        <p:xfrm>
          <a:off x="352925" y="1735134"/>
          <a:ext cx="11149264" cy="3141664"/>
        </p:xfrm>
        <a:graphic>
          <a:graphicData uri="http://schemas.openxmlformats.org/drawingml/2006/table">
            <a:tbl>
              <a:tblPr/>
              <a:tblGrid>
                <a:gridCol w="5574632">
                  <a:extLst>
                    <a:ext uri="{9D8B030D-6E8A-4147-A177-3AD203B41FA5}">
                      <a16:colId xmlns:a16="http://schemas.microsoft.com/office/drawing/2014/main" val="2939175786"/>
                    </a:ext>
                  </a:extLst>
                </a:gridCol>
                <a:gridCol w="5574632">
                  <a:extLst>
                    <a:ext uri="{9D8B030D-6E8A-4147-A177-3AD203B41FA5}">
                      <a16:colId xmlns:a16="http://schemas.microsoft.com/office/drawing/2014/main" val="3412425635"/>
                    </a:ext>
                  </a:extLst>
                </a:gridCol>
              </a:tblGrid>
              <a:tr h="785416">
                <a:tc>
                  <a:txBody>
                    <a:bodyPr/>
                    <a:lstStyle/>
                    <a:p>
                      <a:r>
                        <a:rPr lang="en-US" sz="3200"/>
                        <a:t>🛠️ </a:t>
                      </a:r>
                      <a:r>
                        <a:rPr lang="en-US" sz="3200" b="1"/>
                        <a:t>Technology</a:t>
                      </a:r>
                      <a:endParaRPr lang="en-US" sz="3200"/>
                    </a:p>
                  </a:txBody>
                  <a:tcPr anchor="ctr">
                    <a:lnL>
                      <a:noFill/>
                    </a:lnL>
                    <a:lnR>
                      <a:noFill/>
                    </a:lnR>
                    <a:lnT>
                      <a:noFill/>
                    </a:lnT>
                    <a:lnB>
                      <a:noFill/>
                    </a:lnB>
                  </a:tcPr>
                </a:tc>
                <a:tc>
                  <a:txBody>
                    <a:bodyPr/>
                    <a:lstStyle/>
                    <a:p>
                      <a:r>
                        <a:rPr lang="en-US" sz="3200" b="1"/>
                        <a:t>Details</a:t>
                      </a:r>
                      <a:endParaRPr lang="en-US" sz="3200"/>
                    </a:p>
                  </a:txBody>
                  <a:tcPr anchor="ctr">
                    <a:lnL>
                      <a:noFill/>
                    </a:lnL>
                    <a:lnR>
                      <a:noFill/>
                    </a:lnR>
                    <a:lnT>
                      <a:noFill/>
                    </a:lnT>
                    <a:lnB>
                      <a:noFill/>
                    </a:lnB>
                  </a:tcPr>
                </a:tc>
                <a:extLst>
                  <a:ext uri="{0D108BD9-81ED-4DB2-BD59-A6C34878D82A}">
                    <a16:rowId xmlns:a16="http://schemas.microsoft.com/office/drawing/2014/main" val="2969760654"/>
                  </a:ext>
                </a:extLst>
              </a:tr>
              <a:tr h="785416">
                <a:tc>
                  <a:txBody>
                    <a:bodyPr/>
                    <a:lstStyle/>
                    <a:p>
                      <a:r>
                        <a:rPr lang="en-US" sz="3200"/>
                        <a:t>💻 Programming Language</a:t>
                      </a:r>
                    </a:p>
                  </a:txBody>
                  <a:tcPr anchor="ctr">
                    <a:lnL>
                      <a:noFill/>
                    </a:lnL>
                    <a:lnR>
                      <a:noFill/>
                    </a:lnR>
                    <a:lnT>
                      <a:noFill/>
                    </a:lnT>
                    <a:lnB>
                      <a:noFill/>
                    </a:lnB>
                  </a:tcPr>
                </a:tc>
                <a:tc>
                  <a:txBody>
                    <a:bodyPr/>
                    <a:lstStyle/>
                    <a:p>
                      <a:r>
                        <a:rPr lang="en-US" sz="3200"/>
                        <a:t>C</a:t>
                      </a:r>
                    </a:p>
                  </a:txBody>
                  <a:tcPr anchor="ctr">
                    <a:lnL>
                      <a:noFill/>
                    </a:lnL>
                    <a:lnR>
                      <a:noFill/>
                    </a:lnR>
                    <a:lnT>
                      <a:noFill/>
                    </a:lnT>
                    <a:lnB>
                      <a:noFill/>
                    </a:lnB>
                  </a:tcPr>
                </a:tc>
                <a:extLst>
                  <a:ext uri="{0D108BD9-81ED-4DB2-BD59-A6C34878D82A}">
                    <a16:rowId xmlns:a16="http://schemas.microsoft.com/office/drawing/2014/main" val="3411880408"/>
                  </a:ext>
                </a:extLst>
              </a:tr>
              <a:tr h="785416">
                <a:tc>
                  <a:txBody>
                    <a:bodyPr/>
                    <a:lstStyle/>
                    <a:p>
                      <a:r>
                        <a:rPr lang="en-US" sz="3200"/>
                        <a:t>🖥️ Compiler</a:t>
                      </a:r>
                    </a:p>
                  </a:txBody>
                  <a:tcPr anchor="ctr">
                    <a:lnL>
                      <a:noFill/>
                    </a:lnL>
                    <a:lnR>
                      <a:noFill/>
                    </a:lnR>
                    <a:lnT>
                      <a:noFill/>
                    </a:lnT>
                    <a:lnB>
                      <a:noFill/>
                    </a:lnB>
                  </a:tcPr>
                </a:tc>
                <a:tc>
                  <a:txBody>
                    <a:bodyPr/>
                    <a:lstStyle/>
                    <a:p>
                      <a:r>
                        <a:rPr lang="en-US" sz="3200"/>
                        <a:t>Code::Blocks, Dev-C++, GCC</a:t>
                      </a:r>
                    </a:p>
                  </a:txBody>
                  <a:tcPr anchor="ctr">
                    <a:lnL>
                      <a:noFill/>
                    </a:lnL>
                    <a:lnR>
                      <a:noFill/>
                    </a:lnR>
                    <a:lnT>
                      <a:noFill/>
                    </a:lnT>
                    <a:lnB>
                      <a:noFill/>
                    </a:lnB>
                  </a:tcPr>
                </a:tc>
                <a:extLst>
                  <a:ext uri="{0D108BD9-81ED-4DB2-BD59-A6C34878D82A}">
                    <a16:rowId xmlns:a16="http://schemas.microsoft.com/office/drawing/2014/main" val="3829661658"/>
                  </a:ext>
                </a:extLst>
              </a:tr>
              <a:tr h="785416">
                <a:tc>
                  <a:txBody>
                    <a:bodyPr/>
                    <a:lstStyle/>
                    <a:p>
                      <a:r>
                        <a:rPr lang="en-US" sz="3200"/>
                        <a:t>🪟 Operating System</a:t>
                      </a:r>
                    </a:p>
                  </a:txBody>
                  <a:tcPr anchor="ctr">
                    <a:lnL>
                      <a:noFill/>
                    </a:lnL>
                    <a:lnR>
                      <a:noFill/>
                    </a:lnR>
                    <a:lnT>
                      <a:noFill/>
                    </a:lnT>
                    <a:lnB>
                      <a:noFill/>
                    </a:lnB>
                  </a:tcPr>
                </a:tc>
                <a:tc>
                  <a:txBody>
                    <a:bodyPr/>
                    <a:lstStyle/>
                    <a:p>
                      <a:r>
                        <a:rPr lang="en-US" sz="3200" dirty="0"/>
                        <a:t>Windows</a:t>
                      </a:r>
                    </a:p>
                  </a:txBody>
                  <a:tcPr anchor="ctr">
                    <a:lnL>
                      <a:noFill/>
                    </a:lnL>
                    <a:lnR>
                      <a:noFill/>
                    </a:lnR>
                    <a:lnT>
                      <a:noFill/>
                    </a:lnT>
                    <a:lnB>
                      <a:noFill/>
                    </a:lnB>
                  </a:tcPr>
                </a:tc>
                <a:extLst>
                  <a:ext uri="{0D108BD9-81ED-4DB2-BD59-A6C34878D82A}">
                    <a16:rowId xmlns:a16="http://schemas.microsoft.com/office/drawing/2014/main" val="3866242499"/>
                  </a:ext>
                </a:extLst>
              </a:tr>
            </a:tbl>
          </a:graphicData>
        </a:graphic>
      </p:graphicFrame>
    </p:spTree>
    <p:extLst>
      <p:ext uri="{BB962C8B-B14F-4D97-AF65-F5344CB8AC3E}">
        <p14:creationId xmlns:p14="http://schemas.microsoft.com/office/powerpoint/2010/main" val="4100526294"/>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22FC65-060D-4A8D-92E4-D01070B9B226}"/>
              </a:ext>
            </a:extLst>
          </p:cNvPr>
          <p:cNvSpPr/>
          <p:nvPr/>
        </p:nvSpPr>
        <p:spPr>
          <a:xfrm>
            <a:off x="657726" y="737937"/>
            <a:ext cx="224590" cy="1379621"/>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A74C2DCC-0854-49D2-911A-60814B1B1DD9}"/>
              </a:ext>
            </a:extLst>
          </p:cNvPr>
          <p:cNvSpPr/>
          <p:nvPr/>
        </p:nvSpPr>
        <p:spPr>
          <a:xfrm>
            <a:off x="401054" y="383994"/>
            <a:ext cx="11133220" cy="707886"/>
          </a:xfrm>
          <a:prstGeom prst="rect">
            <a:avLst/>
          </a:prstGeom>
          <a:solidFill>
            <a:schemeClr val="accent5"/>
          </a:solidFill>
        </p:spPr>
        <p:txBody>
          <a:bodyPr wrap="square">
            <a:spAutoFit/>
          </a:bodyPr>
          <a:lstStyle/>
          <a:p>
            <a:pPr algn="ctr"/>
            <a:r>
              <a:rPr lang="en-US" sz="4000" b="1" dirty="0"/>
              <a:t>9. Data Structure Used</a:t>
            </a:r>
          </a:p>
        </p:txBody>
      </p:sp>
      <p:sp>
        <p:nvSpPr>
          <p:cNvPr id="5" name="Rectangle 4">
            <a:extLst>
              <a:ext uri="{FF2B5EF4-FFF2-40B4-BE49-F238E27FC236}">
                <a16:creationId xmlns:a16="http://schemas.microsoft.com/office/drawing/2014/main" id="{B6F39863-91F9-4104-B2C3-83056BB7BF26}"/>
              </a:ext>
            </a:extLst>
          </p:cNvPr>
          <p:cNvSpPr/>
          <p:nvPr/>
        </p:nvSpPr>
        <p:spPr>
          <a:xfrm>
            <a:off x="401053" y="1445822"/>
            <a:ext cx="6382301" cy="2308324"/>
          </a:xfrm>
          <a:prstGeom prst="rect">
            <a:avLst/>
          </a:prstGeom>
        </p:spPr>
        <p:txBody>
          <a:bodyPr wrap="square">
            <a:spAutoFit/>
          </a:bodyPr>
          <a:lstStyle/>
          <a:p>
            <a:r>
              <a:rPr lang="en-US" dirty="0"/>
              <a:t> Student</a:t>
            </a:r>
          </a:p>
          <a:p>
            <a:r>
              <a:rPr lang="en-US" dirty="0"/>
              <a:t>        ┌─────────┐</a:t>
            </a:r>
          </a:p>
          <a:p>
            <a:r>
              <a:rPr lang="en-US" dirty="0"/>
              <a:t>        │ ID                   │</a:t>
            </a:r>
          </a:p>
          <a:p>
            <a:r>
              <a:rPr lang="en-US" dirty="0"/>
              <a:t>        │ Name             │</a:t>
            </a:r>
          </a:p>
          <a:p>
            <a:r>
              <a:rPr lang="en-US" dirty="0"/>
              <a:t>        │ Department     │</a:t>
            </a:r>
          </a:p>
          <a:p>
            <a:r>
              <a:rPr lang="en-US" dirty="0"/>
              <a:t>        │ Semester        │</a:t>
            </a:r>
          </a:p>
          <a:p>
            <a:r>
              <a:rPr lang="en-US" dirty="0"/>
              <a:t>        │ CGPA            │</a:t>
            </a:r>
          </a:p>
          <a:p>
            <a:r>
              <a:rPr lang="en-US" dirty="0"/>
              <a:t>        └────────┘</a:t>
            </a:r>
          </a:p>
        </p:txBody>
      </p:sp>
      <p:pic>
        <p:nvPicPr>
          <p:cNvPr id="2" name="Picture 1"/>
          <p:cNvPicPr>
            <a:picLocks noChangeAspect="1"/>
          </p:cNvPicPr>
          <p:nvPr/>
        </p:nvPicPr>
        <p:blipFill>
          <a:blip r:embed="rId2"/>
          <a:stretch>
            <a:fillRect/>
          </a:stretch>
        </p:blipFill>
        <p:spPr>
          <a:xfrm>
            <a:off x="5384468" y="1757523"/>
            <a:ext cx="5166872" cy="3597757"/>
          </a:xfrm>
          <a:prstGeom prst="rect">
            <a:avLst/>
          </a:prstGeom>
        </p:spPr>
      </p:pic>
    </p:spTree>
    <p:extLst>
      <p:ext uri="{BB962C8B-B14F-4D97-AF65-F5344CB8AC3E}">
        <p14:creationId xmlns:p14="http://schemas.microsoft.com/office/powerpoint/2010/main" val="3470901451"/>
      </p:ext>
    </p:extLst>
  </p:cSld>
  <p:clrMapOvr>
    <a:masterClrMapping/>
  </p:clrMapOvr>
  <p:transition spd="slow">
    <p:wip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png"/>
          <p:cNvPicPr>
            <a:picLocks noChangeAspect="1"/>
          </p:cNvPicPr>
          <p:nvPr/>
        </p:nvPicPr>
        <p:blipFill>
          <a:blip r:embed="rId2">
            <a:duotone>
              <a:prstClr val="black"/>
              <a:schemeClr val="accent5">
                <a:tint val="45000"/>
                <a:satMod val="400000"/>
              </a:schemeClr>
            </a:duotone>
          </a:blip>
          <a:stretch>
            <a:fillRect/>
          </a:stretch>
        </p:blipFill>
        <p:spPr>
          <a:xfrm>
            <a:off x="589395" y="1683543"/>
            <a:ext cx="3555950" cy="2138362"/>
          </a:xfrm>
          <a:prstGeom prst="rect">
            <a:avLst/>
          </a:prstGeom>
        </p:spPr>
      </p:pic>
      <p:pic>
        <p:nvPicPr>
          <p:cNvPr id="4" name="Picture 3" descr="image.png"/>
          <p:cNvPicPr>
            <a:picLocks noChangeAspect="1"/>
          </p:cNvPicPr>
          <p:nvPr/>
        </p:nvPicPr>
        <p:blipFill>
          <a:blip r:embed="rId3">
            <a:duotone>
              <a:prstClr val="black"/>
              <a:schemeClr val="accent5">
                <a:tint val="45000"/>
                <a:satMod val="400000"/>
              </a:schemeClr>
            </a:duotone>
          </a:blip>
          <a:stretch>
            <a:fillRect/>
          </a:stretch>
        </p:blipFill>
        <p:spPr>
          <a:xfrm>
            <a:off x="4317950" y="1683543"/>
            <a:ext cx="3555950" cy="2138362"/>
          </a:xfrm>
          <a:prstGeom prst="rect">
            <a:avLst/>
          </a:prstGeom>
        </p:spPr>
      </p:pic>
      <p:pic>
        <p:nvPicPr>
          <p:cNvPr id="5" name="Picture 4" descr="image.png"/>
          <p:cNvPicPr>
            <a:picLocks noChangeAspect="1"/>
          </p:cNvPicPr>
          <p:nvPr/>
        </p:nvPicPr>
        <p:blipFill>
          <a:blip r:embed="rId4">
            <a:duotone>
              <a:prstClr val="black"/>
              <a:schemeClr val="accent5">
                <a:tint val="45000"/>
                <a:satMod val="400000"/>
              </a:schemeClr>
            </a:duotone>
          </a:blip>
          <a:stretch>
            <a:fillRect/>
          </a:stretch>
        </p:blipFill>
        <p:spPr>
          <a:xfrm>
            <a:off x="8064400" y="1683543"/>
            <a:ext cx="3555950" cy="2138362"/>
          </a:xfrm>
          <a:prstGeom prst="rect">
            <a:avLst/>
          </a:prstGeom>
        </p:spPr>
      </p:pic>
      <p:pic>
        <p:nvPicPr>
          <p:cNvPr id="6" name="Picture 5" descr="image.png"/>
          <p:cNvPicPr>
            <a:picLocks noChangeAspect="1"/>
          </p:cNvPicPr>
          <p:nvPr/>
        </p:nvPicPr>
        <p:blipFill>
          <a:blip r:embed="rId5">
            <a:duotone>
              <a:prstClr val="black"/>
              <a:schemeClr val="accent5">
                <a:tint val="45000"/>
                <a:satMod val="400000"/>
              </a:schemeClr>
            </a:duotone>
          </a:blip>
          <a:stretch>
            <a:fillRect/>
          </a:stretch>
        </p:blipFill>
        <p:spPr>
          <a:xfrm>
            <a:off x="571500" y="4012406"/>
            <a:ext cx="3555950" cy="1924050"/>
          </a:xfrm>
          <a:prstGeom prst="rect">
            <a:avLst/>
          </a:prstGeom>
        </p:spPr>
      </p:pic>
      <p:pic>
        <p:nvPicPr>
          <p:cNvPr id="7" name="Picture 6" descr="image.png"/>
          <p:cNvPicPr>
            <a:picLocks noChangeAspect="1"/>
          </p:cNvPicPr>
          <p:nvPr/>
        </p:nvPicPr>
        <p:blipFill>
          <a:blip r:embed="rId6">
            <a:duotone>
              <a:prstClr val="black"/>
              <a:schemeClr val="accent5">
                <a:tint val="45000"/>
                <a:satMod val="400000"/>
              </a:schemeClr>
            </a:duotone>
          </a:blip>
          <a:stretch>
            <a:fillRect/>
          </a:stretch>
        </p:blipFill>
        <p:spPr>
          <a:xfrm>
            <a:off x="4317950" y="4012406"/>
            <a:ext cx="3555950" cy="1924050"/>
          </a:xfrm>
          <a:prstGeom prst="rect">
            <a:avLst/>
          </a:prstGeom>
        </p:spPr>
      </p:pic>
      <p:pic>
        <p:nvPicPr>
          <p:cNvPr id="8" name="Picture 7" descr="image.png"/>
          <p:cNvPicPr>
            <a:picLocks noChangeAspect="1"/>
          </p:cNvPicPr>
          <p:nvPr/>
        </p:nvPicPr>
        <p:blipFill>
          <a:blip r:embed="rId7">
            <a:duotone>
              <a:prstClr val="black"/>
              <a:schemeClr val="accent5">
                <a:tint val="45000"/>
                <a:satMod val="400000"/>
              </a:schemeClr>
            </a:duotone>
          </a:blip>
          <a:stretch>
            <a:fillRect/>
          </a:stretch>
        </p:blipFill>
        <p:spPr>
          <a:xfrm>
            <a:off x="8064400" y="4012406"/>
            <a:ext cx="3555950" cy="1924050"/>
          </a:xfrm>
          <a:prstGeom prst="rect">
            <a:avLst/>
          </a:prstGeom>
        </p:spPr>
      </p:pic>
      <p:pic>
        <p:nvPicPr>
          <p:cNvPr id="9" name="Picture 8" descr="image.png"/>
          <p:cNvPicPr>
            <a:picLocks noChangeAspect="1"/>
          </p:cNvPicPr>
          <p:nvPr/>
        </p:nvPicPr>
        <p:blipFill>
          <a:blip r:embed="rId8">
            <a:duotone>
              <a:prstClr val="black"/>
              <a:schemeClr val="accent4">
                <a:tint val="45000"/>
                <a:satMod val="400000"/>
              </a:schemeClr>
            </a:duotone>
          </a:blip>
          <a:stretch>
            <a:fillRect/>
          </a:stretch>
        </p:blipFill>
        <p:spPr>
          <a:xfrm>
            <a:off x="819150" y="1931193"/>
            <a:ext cx="476250" cy="476250"/>
          </a:xfrm>
          <a:prstGeom prst="rect">
            <a:avLst/>
          </a:prstGeom>
        </p:spPr>
      </p:pic>
      <p:sp>
        <p:nvSpPr>
          <p:cNvPr id="10" name="TextBox 9"/>
          <p:cNvSpPr txBox="1"/>
          <p:nvPr/>
        </p:nvSpPr>
        <p:spPr>
          <a:xfrm>
            <a:off x="819150" y="2550318"/>
            <a:ext cx="3213682" cy="285750"/>
          </a:xfrm>
          <a:prstGeom prst="rect">
            <a:avLst/>
          </a:prstGeom>
          <a:noFill/>
        </p:spPr>
        <p:txBody>
          <a:bodyPr wrap="square" lIns="0" tIns="0" rIns="0" bIns="0" anchor="t">
            <a:spAutoFit/>
          </a:bodyPr>
          <a:lstStyle/>
          <a:p>
            <a:pPr algn="l"/>
            <a:r>
              <a:rPr sz="1500" b="1" i="0" u="none">
                <a:solidFill>
                  <a:srgbClr val="0F172A"/>
                </a:solidFill>
                <a:latin typeface="Poppins"/>
              </a:rPr>
              <a:t>1. Add Student</a:t>
            </a:r>
          </a:p>
        </p:txBody>
      </p:sp>
      <p:pic>
        <p:nvPicPr>
          <p:cNvPr id="12" name="Picture 11" descr="image.png"/>
          <p:cNvPicPr>
            <a:picLocks noChangeAspect="1"/>
          </p:cNvPicPr>
          <p:nvPr/>
        </p:nvPicPr>
        <p:blipFill>
          <a:blip r:embed="rId9">
            <a:duotone>
              <a:prstClr val="black"/>
              <a:schemeClr val="accent4">
                <a:tint val="45000"/>
                <a:satMod val="400000"/>
              </a:schemeClr>
            </a:duotone>
          </a:blip>
          <a:stretch>
            <a:fillRect/>
          </a:stretch>
        </p:blipFill>
        <p:spPr>
          <a:xfrm>
            <a:off x="4565600" y="1931193"/>
            <a:ext cx="476250" cy="476250"/>
          </a:xfrm>
          <a:prstGeom prst="rect">
            <a:avLst/>
          </a:prstGeom>
        </p:spPr>
      </p:pic>
      <p:sp>
        <p:nvSpPr>
          <p:cNvPr id="13" name="TextBox 12"/>
          <p:cNvSpPr txBox="1"/>
          <p:nvPr/>
        </p:nvSpPr>
        <p:spPr>
          <a:xfrm>
            <a:off x="4565600" y="2550318"/>
            <a:ext cx="3213682" cy="285750"/>
          </a:xfrm>
          <a:prstGeom prst="rect">
            <a:avLst/>
          </a:prstGeom>
          <a:noFill/>
        </p:spPr>
        <p:txBody>
          <a:bodyPr wrap="square" lIns="0" tIns="0" rIns="0" bIns="0" anchor="t">
            <a:spAutoFit/>
          </a:bodyPr>
          <a:lstStyle/>
          <a:p>
            <a:pPr algn="l"/>
            <a:r>
              <a:rPr sz="1500" b="1" i="0" u="none">
                <a:solidFill>
                  <a:srgbClr val="0F172A"/>
                </a:solidFill>
                <a:latin typeface="Poppins"/>
              </a:rPr>
              <a:t>2. Display All</a:t>
            </a:r>
          </a:p>
        </p:txBody>
      </p:sp>
      <p:sp>
        <p:nvSpPr>
          <p:cNvPr id="14" name="TextBox 13"/>
          <p:cNvSpPr txBox="1"/>
          <p:nvPr/>
        </p:nvSpPr>
        <p:spPr>
          <a:xfrm>
            <a:off x="4565600" y="2931318"/>
            <a:ext cx="3060650" cy="646908"/>
          </a:xfrm>
          <a:prstGeom prst="rect">
            <a:avLst/>
          </a:prstGeom>
          <a:noFill/>
        </p:spPr>
        <p:txBody>
          <a:bodyPr wrap="square" lIns="0" tIns="0" rIns="0" bIns="0" anchor="t">
            <a:spAutoFit/>
          </a:bodyPr>
          <a:lstStyle/>
          <a:p>
            <a:pPr algn="l">
              <a:lnSpc>
                <a:spcPts val="1687"/>
              </a:lnSpc>
            </a:pPr>
            <a:r>
              <a:rPr sz="1400" b="0" i="0" u="none" dirty="0">
                <a:latin typeface="Inter"/>
              </a:rPr>
              <a:t>Renders all stored student records in a structured, clean, and aligned tabular layout</a:t>
            </a:r>
            <a:r>
              <a:rPr sz="1125" b="0" i="0" u="none" dirty="0">
                <a:solidFill>
                  <a:srgbClr val="64748B"/>
                </a:solidFill>
                <a:latin typeface="Inter"/>
              </a:rPr>
              <a:t>.</a:t>
            </a:r>
          </a:p>
        </p:txBody>
      </p:sp>
      <p:pic>
        <p:nvPicPr>
          <p:cNvPr id="15" name="Picture 14" descr="image.png"/>
          <p:cNvPicPr>
            <a:picLocks noChangeAspect="1"/>
          </p:cNvPicPr>
          <p:nvPr/>
        </p:nvPicPr>
        <p:blipFill>
          <a:blip r:embed="rId10">
            <a:duotone>
              <a:prstClr val="black"/>
              <a:schemeClr val="accent4">
                <a:tint val="45000"/>
                <a:satMod val="400000"/>
              </a:schemeClr>
            </a:duotone>
          </a:blip>
          <a:stretch>
            <a:fillRect/>
          </a:stretch>
        </p:blipFill>
        <p:spPr>
          <a:xfrm>
            <a:off x="8312050" y="1931193"/>
            <a:ext cx="476250" cy="476250"/>
          </a:xfrm>
          <a:prstGeom prst="rect">
            <a:avLst/>
          </a:prstGeom>
        </p:spPr>
      </p:pic>
      <p:sp>
        <p:nvSpPr>
          <p:cNvPr id="16" name="TextBox 15"/>
          <p:cNvSpPr txBox="1"/>
          <p:nvPr/>
        </p:nvSpPr>
        <p:spPr>
          <a:xfrm>
            <a:off x="8312050" y="2550318"/>
            <a:ext cx="3213682" cy="285750"/>
          </a:xfrm>
          <a:prstGeom prst="rect">
            <a:avLst/>
          </a:prstGeom>
          <a:noFill/>
        </p:spPr>
        <p:txBody>
          <a:bodyPr wrap="square" lIns="0" tIns="0" rIns="0" bIns="0" anchor="t">
            <a:spAutoFit/>
          </a:bodyPr>
          <a:lstStyle/>
          <a:p>
            <a:pPr algn="l"/>
            <a:r>
              <a:rPr sz="1500" b="1" i="0" u="none">
                <a:solidFill>
                  <a:srgbClr val="0F172A"/>
                </a:solidFill>
                <a:latin typeface="Poppins"/>
              </a:rPr>
              <a:t>3. Search Student</a:t>
            </a:r>
          </a:p>
        </p:txBody>
      </p:sp>
      <p:sp>
        <p:nvSpPr>
          <p:cNvPr id="17" name="TextBox 16"/>
          <p:cNvSpPr txBox="1"/>
          <p:nvPr/>
        </p:nvSpPr>
        <p:spPr>
          <a:xfrm>
            <a:off x="8312050" y="2931318"/>
            <a:ext cx="3060650" cy="646908"/>
          </a:xfrm>
          <a:prstGeom prst="rect">
            <a:avLst/>
          </a:prstGeom>
          <a:noFill/>
        </p:spPr>
        <p:txBody>
          <a:bodyPr wrap="square" lIns="0" tIns="0" rIns="0" bIns="0" anchor="t">
            <a:spAutoFit/>
          </a:bodyPr>
          <a:lstStyle/>
          <a:p>
            <a:pPr algn="l">
              <a:lnSpc>
                <a:spcPts val="1687"/>
              </a:lnSpc>
            </a:pPr>
            <a:r>
              <a:rPr sz="1400" b="0" i="0" u="none" dirty="0">
                <a:latin typeface="Inter"/>
              </a:rPr>
              <a:t>Fast record retrieval by searching unique IIUC Student ID with case-insensitive matching</a:t>
            </a:r>
            <a:r>
              <a:rPr sz="1125" b="0" i="0" u="none" dirty="0">
                <a:solidFill>
                  <a:srgbClr val="64748B"/>
                </a:solidFill>
                <a:latin typeface="Inter"/>
              </a:rPr>
              <a:t>.</a:t>
            </a:r>
          </a:p>
        </p:txBody>
      </p:sp>
      <p:pic>
        <p:nvPicPr>
          <p:cNvPr id="18" name="Picture 17" descr="image.png"/>
          <p:cNvPicPr>
            <a:picLocks noChangeAspect="1"/>
          </p:cNvPicPr>
          <p:nvPr/>
        </p:nvPicPr>
        <p:blipFill>
          <a:blip r:embed="rId11">
            <a:duotone>
              <a:prstClr val="black"/>
              <a:schemeClr val="accent4">
                <a:tint val="45000"/>
                <a:satMod val="400000"/>
              </a:schemeClr>
            </a:duotone>
          </a:blip>
          <a:stretch>
            <a:fillRect/>
          </a:stretch>
        </p:blipFill>
        <p:spPr>
          <a:xfrm>
            <a:off x="819150" y="4260056"/>
            <a:ext cx="476250" cy="476250"/>
          </a:xfrm>
          <a:prstGeom prst="rect">
            <a:avLst/>
          </a:prstGeom>
        </p:spPr>
      </p:pic>
      <p:sp>
        <p:nvSpPr>
          <p:cNvPr id="19" name="TextBox 18"/>
          <p:cNvSpPr txBox="1"/>
          <p:nvPr/>
        </p:nvSpPr>
        <p:spPr>
          <a:xfrm>
            <a:off x="819150" y="4879181"/>
            <a:ext cx="3213682" cy="285750"/>
          </a:xfrm>
          <a:prstGeom prst="rect">
            <a:avLst/>
          </a:prstGeom>
          <a:noFill/>
        </p:spPr>
        <p:txBody>
          <a:bodyPr wrap="square" lIns="0" tIns="0" rIns="0" bIns="0" anchor="t">
            <a:spAutoFit/>
          </a:bodyPr>
          <a:lstStyle/>
          <a:p>
            <a:pPr algn="l"/>
            <a:r>
              <a:rPr sz="1500" b="1" i="0" u="none">
                <a:solidFill>
                  <a:srgbClr val="0F172A"/>
                </a:solidFill>
                <a:latin typeface="Poppins"/>
              </a:rPr>
              <a:t>4. Update Info</a:t>
            </a:r>
          </a:p>
        </p:txBody>
      </p:sp>
      <p:sp>
        <p:nvSpPr>
          <p:cNvPr id="20" name="TextBox 19"/>
          <p:cNvSpPr txBox="1"/>
          <p:nvPr/>
        </p:nvSpPr>
        <p:spPr>
          <a:xfrm>
            <a:off x="837045" y="5164931"/>
            <a:ext cx="3060650" cy="646908"/>
          </a:xfrm>
          <a:prstGeom prst="rect">
            <a:avLst/>
          </a:prstGeom>
          <a:noFill/>
        </p:spPr>
        <p:txBody>
          <a:bodyPr wrap="square" lIns="0" tIns="0" rIns="0" bIns="0" anchor="t">
            <a:spAutoFit/>
          </a:bodyPr>
          <a:lstStyle/>
          <a:p>
            <a:pPr algn="l">
              <a:lnSpc>
                <a:spcPts val="1687"/>
              </a:lnSpc>
            </a:pPr>
            <a:r>
              <a:rPr sz="1400" b="0" i="0" u="none" dirty="0">
                <a:latin typeface="Inter"/>
              </a:rPr>
              <a:t>Modifies existing student details dynamically while upholding validation rules</a:t>
            </a:r>
            <a:r>
              <a:rPr sz="1125" b="0" i="0" u="none" dirty="0">
                <a:solidFill>
                  <a:srgbClr val="64748B"/>
                </a:solidFill>
                <a:latin typeface="Inter"/>
              </a:rPr>
              <a:t>.</a:t>
            </a:r>
          </a:p>
        </p:txBody>
      </p:sp>
      <p:pic>
        <p:nvPicPr>
          <p:cNvPr id="21" name="Picture 20" descr="image.png"/>
          <p:cNvPicPr>
            <a:picLocks noChangeAspect="1"/>
          </p:cNvPicPr>
          <p:nvPr/>
        </p:nvPicPr>
        <p:blipFill>
          <a:blip r:embed="rId12">
            <a:duotone>
              <a:prstClr val="black"/>
              <a:schemeClr val="accent4">
                <a:tint val="45000"/>
                <a:satMod val="400000"/>
              </a:schemeClr>
            </a:duotone>
          </a:blip>
          <a:stretch>
            <a:fillRect/>
          </a:stretch>
        </p:blipFill>
        <p:spPr>
          <a:xfrm>
            <a:off x="4565600" y="4260056"/>
            <a:ext cx="476250" cy="476250"/>
          </a:xfrm>
          <a:prstGeom prst="rect">
            <a:avLst/>
          </a:prstGeom>
        </p:spPr>
      </p:pic>
      <p:sp>
        <p:nvSpPr>
          <p:cNvPr id="22" name="TextBox 21"/>
          <p:cNvSpPr txBox="1"/>
          <p:nvPr/>
        </p:nvSpPr>
        <p:spPr>
          <a:xfrm>
            <a:off x="4565600" y="4879181"/>
            <a:ext cx="3213682" cy="285750"/>
          </a:xfrm>
          <a:prstGeom prst="rect">
            <a:avLst/>
          </a:prstGeom>
          <a:noFill/>
        </p:spPr>
        <p:txBody>
          <a:bodyPr wrap="square" lIns="0" tIns="0" rIns="0" bIns="0" anchor="t">
            <a:spAutoFit/>
          </a:bodyPr>
          <a:lstStyle/>
          <a:p>
            <a:pPr algn="l"/>
            <a:r>
              <a:rPr sz="1500" b="1" i="0" u="none">
                <a:solidFill>
                  <a:srgbClr val="0F172A"/>
                </a:solidFill>
                <a:latin typeface="Poppins"/>
              </a:rPr>
              <a:t>5. Delete Record</a:t>
            </a:r>
          </a:p>
        </p:txBody>
      </p:sp>
      <p:sp>
        <p:nvSpPr>
          <p:cNvPr id="23" name="TextBox 22"/>
          <p:cNvSpPr txBox="1"/>
          <p:nvPr/>
        </p:nvSpPr>
        <p:spPr>
          <a:xfrm>
            <a:off x="4565600" y="5260181"/>
            <a:ext cx="3060650" cy="428625"/>
          </a:xfrm>
          <a:prstGeom prst="rect">
            <a:avLst/>
          </a:prstGeom>
          <a:noFill/>
        </p:spPr>
        <p:txBody>
          <a:bodyPr wrap="square" lIns="0" tIns="0" rIns="0" bIns="0" anchor="t">
            <a:spAutoFit/>
          </a:bodyPr>
          <a:lstStyle/>
          <a:p>
            <a:pPr algn="l">
              <a:lnSpc>
                <a:spcPts val="1687"/>
              </a:lnSpc>
            </a:pPr>
            <a:r>
              <a:rPr sz="1400" b="0" i="0" u="none" dirty="0">
                <a:latin typeface="Inter"/>
              </a:rPr>
              <a:t>Removes student records safely after explicit user confirmation (Y/N prompt).</a:t>
            </a:r>
          </a:p>
        </p:txBody>
      </p:sp>
      <p:pic>
        <p:nvPicPr>
          <p:cNvPr id="24" name="Picture 23" descr="image.png"/>
          <p:cNvPicPr>
            <a:picLocks noChangeAspect="1"/>
          </p:cNvPicPr>
          <p:nvPr/>
        </p:nvPicPr>
        <p:blipFill>
          <a:blip r:embed="rId11">
            <a:duotone>
              <a:prstClr val="black"/>
              <a:schemeClr val="accent4">
                <a:tint val="45000"/>
                <a:satMod val="400000"/>
              </a:schemeClr>
            </a:duotone>
          </a:blip>
          <a:stretch>
            <a:fillRect/>
          </a:stretch>
        </p:blipFill>
        <p:spPr>
          <a:xfrm>
            <a:off x="8312050" y="4260056"/>
            <a:ext cx="476250" cy="476250"/>
          </a:xfrm>
          <a:prstGeom prst="rect">
            <a:avLst/>
          </a:prstGeom>
        </p:spPr>
      </p:pic>
      <p:sp>
        <p:nvSpPr>
          <p:cNvPr id="25" name="TextBox 24"/>
          <p:cNvSpPr txBox="1"/>
          <p:nvPr/>
        </p:nvSpPr>
        <p:spPr>
          <a:xfrm>
            <a:off x="8312050" y="4879181"/>
            <a:ext cx="3213682" cy="285750"/>
          </a:xfrm>
          <a:prstGeom prst="rect">
            <a:avLst/>
          </a:prstGeom>
          <a:noFill/>
        </p:spPr>
        <p:txBody>
          <a:bodyPr wrap="square" lIns="0" tIns="0" rIns="0" bIns="0" anchor="t">
            <a:spAutoFit/>
          </a:bodyPr>
          <a:lstStyle/>
          <a:p>
            <a:pPr algn="l"/>
            <a:r>
              <a:rPr sz="1500" b="1" i="0" u="none">
                <a:solidFill>
                  <a:srgbClr val="0F172A"/>
                </a:solidFill>
                <a:latin typeface="Poppins"/>
              </a:rPr>
              <a:t>6. CGPA / Result</a:t>
            </a:r>
          </a:p>
        </p:txBody>
      </p:sp>
      <p:sp>
        <p:nvSpPr>
          <p:cNvPr id="26" name="TextBox 25"/>
          <p:cNvSpPr txBox="1"/>
          <p:nvPr/>
        </p:nvSpPr>
        <p:spPr>
          <a:xfrm>
            <a:off x="8312050" y="5260181"/>
            <a:ext cx="3060650" cy="428625"/>
          </a:xfrm>
          <a:prstGeom prst="rect">
            <a:avLst/>
          </a:prstGeom>
          <a:noFill/>
        </p:spPr>
        <p:txBody>
          <a:bodyPr wrap="square" lIns="0" tIns="0" rIns="0" bIns="0" anchor="t">
            <a:spAutoFit/>
          </a:bodyPr>
          <a:lstStyle/>
          <a:p>
            <a:pPr algn="l">
              <a:lnSpc>
                <a:spcPts val="1687"/>
              </a:lnSpc>
            </a:pPr>
            <a:r>
              <a:rPr sz="1400" b="0" i="0" u="none" dirty="0">
                <a:latin typeface="Inter"/>
              </a:rPr>
              <a:t>Computes academic standing and displays letter grades based on IIUC CGPA criteria.</a:t>
            </a:r>
          </a:p>
        </p:txBody>
      </p:sp>
      <p:pic>
        <p:nvPicPr>
          <p:cNvPr id="28" name="Picture 27" descr="image.png"/>
          <p:cNvPicPr>
            <a:picLocks noChangeAspect="1"/>
          </p:cNvPicPr>
          <p:nvPr/>
        </p:nvPicPr>
        <p:blipFill>
          <a:blip r:embed="rId13">
            <a:biLevel thresh="50000"/>
          </a:blip>
          <a:stretch>
            <a:fillRect/>
          </a:stretch>
        </p:blipFill>
        <p:spPr>
          <a:xfrm>
            <a:off x="4689425" y="2055018"/>
            <a:ext cx="228600" cy="228600"/>
          </a:xfrm>
          <a:prstGeom prst="rect">
            <a:avLst/>
          </a:prstGeom>
        </p:spPr>
      </p:pic>
      <p:pic>
        <p:nvPicPr>
          <p:cNvPr id="29" name="Picture 28" descr="image.png"/>
          <p:cNvPicPr>
            <a:picLocks noChangeAspect="1"/>
          </p:cNvPicPr>
          <p:nvPr/>
        </p:nvPicPr>
        <p:blipFill>
          <a:blip r:embed="rId14">
            <a:biLevel thresh="50000"/>
          </a:blip>
          <a:stretch>
            <a:fillRect/>
          </a:stretch>
        </p:blipFill>
        <p:spPr>
          <a:xfrm>
            <a:off x="8435875" y="2055018"/>
            <a:ext cx="228600" cy="228600"/>
          </a:xfrm>
          <a:prstGeom prst="rect">
            <a:avLst/>
          </a:prstGeom>
        </p:spPr>
      </p:pic>
      <p:pic>
        <p:nvPicPr>
          <p:cNvPr id="30" name="Picture 29" descr="image.png"/>
          <p:cNvPicPr>
            <a:picLocks noChangeAspect="1"/>
          </p:cNvPicPr>
          <p:nvPr/>
        </p:nvPicPr>
        <p:blipFill>
          <a:blip r:embed="rId15">
            <a:biLevel thresh="50000"/>
          </a:blip>
          <a:stretch>
            <a:fillRect/>
          </a:stretch>
        </p:blipFill>
        <p:spPr>
          <a:xfrm>
            <a:off x="914400" y="4383881"/>
            <a:ext cx="285750" cy="228600"/>
          </a:xfrm>
          <a:prstGeom prst="rect">
            <a:avLst/>
          </a:prstGeom>
        </p:spPr>
      </p:pic>
      <p:pic>
        <p:nvPicPr>
          <p:cNvPr id="31" name="Picture 30" descr="image.png"/>
          <p:cNvPicPr>
            <a:picLocks noChangeAspect="1"/>
          </p:cNvPicPr>
          <p:nvPr/>
        </p:nvPicPr>
        <p:blipFill>
          <a:blip r:embed="rId16">
            <a:biLevel thresh="50000"/>
          </a:blip>
          <a:stretch>
            <a:fillRect/>
          </a:stretch>
        </p:blipFill>
        <p:spPr>
          <a:xfrm>
            <a:off x="4660850" y="4383881"/>
            <a:ext cx="285750" cy="228600"/>
          </a:xfrm>
          <a:prstGeom prst="rect">
            <a:avLst/>
          </a:prstGeom>
        </p:spPr>
      </p:pic>
      <p:pic>
        <p:nvPicPr>
          <p:cNvPr id="32" name="Picture 31" descr="image.png"/>
          <p:cNvPicPr>
            <a:picLocks noChangeAspect="1"/>
          </p:cNvPicPr>
          <p:nvPr/>
        </p:nvPicPr>
        <p:blipFill>
          <a:blip r:embed="rId17">
            <a:biLevel thresh="50000"/>
          </a:blip>
          <a:stretch>
            <a:fillRect/>
          </a:stretch>
        </p:blipFill>
        <p:spPr>
          <a:xfrm>
            <a:off x="8464450" y="4383881"/>
            <a:ext cx="171450" cy="228600"/>
          </a:xfrm>
          <a:prstGeom prst="rect">
            <a:avLst/>
          </a:prstGeom>
        </p:spPr>
      </p:pic>
      <p:sp>
        <p:nvSpPr>
          <p:cNvPr id="34" name="Rectangle 33">
            <a:extLst>
              <a:ext uri="{FF2B5EF4-FFF2-40B4-BE49-F238E27FC236}">
                <a16:creationId xmlns:a16="http://schemas.microsoft.com/office/drawing/2014/main" id="{DAC94E7D-0127-46B5-AC88-2AA14065BDE5}"/>
              </a:ext>
            </a:extLst>
          </p:cNvPr>
          <p:cNvSpPr/>
          <p:nvPr/>
        </p:nvSpPr>
        <p:spPr>
          <a:xfrm>
            <a:off x="723900" y="762000"/>
            <a:ext cx="101600" cy="74771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B2A68BBB-E46B-44FB-8DE5-5239530321D9}"/>
              </a:ext>
            </a:extLst>
          </p:cNvPr>
          <p:cNvSpPr txBox="1"/>
          <p:nvPr/>
        </p:nvSpPr>
        <p:spPr>
          <a:xfrm>
            <a:off x="571500" y="334784"/>
            <a:ext cx="11048850" cy="615553"/>
          </a:xfrm>
          <a:prstGeom prst="rect">
            <a:avLst/>
          </a:prstGeom>
          <a:solidFill>
            <a:schemeClr val="accent5"/>
          </a:solidFill>
        </p:spPr>
        <p:txBody>
          <a:bodyPr wrap="square" lIns="0" tIns="0" rIns="0" bIns="0" anchor="t">
            <a:spAutoFit/>
          </a:bodyPr>
          <a:lstStyle/>
          <a:p>
            <a:pPr algn="ctr"/>
            <a:r>
              <a:rPr lang="en-US" sz="4000" b="1" i="0" u="none" dirty="0">
                <a:solidFill>
                  <a:srgbClr val="0F172A"/>
                </a:solidFill>
                <a:latin typeface="Poppins"/>
              </a:rPr>
              <a:t>10. </a:t>
            </a:r>
            <a:r>
              <a:rPr sz="4000" b="1" i="0" u="none" dirty="0">
                <a:solidFill>
                  <a:srgbClr val="0F172A"/>
                </a:solidFill>
                <a:latin typeface="Poppins"/>
              </a:rPr>
              <a:t>Core System Modules</a:t>
            </a:r>
          </a:p>
        </p:txBody>
      </p:sp>
      <p:sp>
        <p:nvSpPr>
          <p:cNvPr id="37" name="TextBox 36">
            <a:extLst>
              <a:ext uri="{FF2B5EF4-FFF2-40B4-BE49-F238E27FC236}">
                <a16:creationId xmlns:a16="http://schemas.microsoft.com/office/drawing/2014/main" id="{59F9A926-323E-4BF3-A08D-57847172081B}"/>
              </a:ext>
            </a:extLst>
          </p:cNvPr>
          <p:cNvSpPr txBox="1"/>
          <p:nvPr/>
        </p:nvSpPr>
        <p:spPr>
          <a:xfrm>
            <a:off x="819150" y="2931318"/>
            <a:ext cx="3060650" cy="646908"/>
          </a:xfrm>
          <a:prstGeom prst="rect">
            <a:avLst/>
          </a:prstGeom>
          <a:noFill/>
        </p:spPr>
        <p:txBody>
          <a:bodyPr wrap="square" lIns="0" tIns="0" rIns="0" bIns="0" anchor="t">
            <a:spAutoFit/>
          </a:bodyPr>
          <a:lstStyle/>
          <a:p>
            <a:pPr algn="l">
              <a:lnSpc>
                <a:spcPts val="1687"/>
              </a:lnSpc>
            </a:pPr>
            <a:r>
              <a:rPr sz="1400" b="0" i="0" u="none" dirty="0">
                <a:latin typeface="Inter"/>
              </a:rPr>
              <a:t>Captures student ID, Name, Department, Semester, and CGPA with strict validation logic</a:t>
            </a:r>
            <a:r>
              <a:rPr sz="1400" b="0" i="0" u="none" dirty="0">
                <a:solidFill>
                  <a:srgbClr val="64748B"/>
                </a:solidFill>
                <a:latin typeface="Inter"/>
              </a:rPr>
              <a:t>.</a:t>
            </a:r>
          </a:p>
        </p:txBody>
      </p:sp>
      <p:pic>
        <p:nvPicPr>
          <p:cNvPr id="38" name="Picture 37" descr="image.png">
            <a:extLst>
              <a:ext uri="{FF2B5EF4-FFF2-40B4-BE49-F238E27FC236}">
                <a16:creationId xmlns:a16="http://schemas.microsoft.com/office/drawing/2014/main" id="{DD852521-F5D1-4006-81A6-FE7B9760CAC7}"/>
              </a:ext>
            </a:extLst>
          </p:cNvPr>
          <p:cNvPicPr>
            <a:picLocks noChangeAspect="1"/>
          </p:cNvPicPr>
          <p:nvPr/>
        </p:nvPicPr>
        <p:blipFill>
          <a:blip r:embed="rId18">
            <a:biLevel thresh="50000"/>
          </a:blip>
          <a:stretch>
            <a:fillRect/>
          </a:stretch>
        </p:blipFill>
        <p:spPr>
          <a:xfrm>
            <a:off x="914400" y="2055018"/>
            <a:ext cx="285750" cy="228600"/>
          </a:xfrm>
          <a:prstGeom prst="rect">
            <a:avLst/>
          </a:prstGeom>
        </p:spPr>
      </p:pic>
    </p:spTree>
    <p:extLst>
      <p:ext uri="{BB962C8B-B14F-4D97-AF65-F5344CB8AC3E}">
        <p14:creationId xmlns:p14="http://schemas.microsoft.com/office/powerpoint/2010/main" val="199102903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barn(inVertical)">
                                      <p:cBhvr>
                                        <p:cTn id="7"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80CFC39-67C2-4831-A2DB-8C1012B6AC6E}"/>
              </a:ext>
            </a:extLst>
          </p:cNvPr>
          <p:cNvSpPr/>
          <p:nvPr/>
        </p:nvSpPr>
        <p:spPr>
          <a:xfrm>
            <a:off x="723899" y="762000"/>
            <a:ext cx="366963" cy="1114926"/>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FE87B8C5-298D-4706-906C-F51C94B5160F}"/>
              </a:ext>
            </a:extLst>
          </p:cNvPr>
          <p:cNvSpPr/>
          <p:nvPr/>
        </p:nvSpPr>
        <p:spPr>
          <a:xfrm>
            <a:off x="199871" y="408057"/>
            <a:ext cx="11832578" cy="707886"/>
          </a:xfrm>
          <a:prstGeom prst="rect">
            <a:avLst/>
          </a:prstGeom>
          <a:solidFill>
            <a:schemeClr val="accent5"/>
          </a:solidFill>
        </p:spPr>
        <p:txBody>
          <a:bodyPr wrap="square">
            <a:spAutoFit/>
          </a:bodyPr>
          <a:lstStyle/>
          <a:p>
            <a:pPr algn="ctr"/>
            <a:r>
              <a:rPr lang="en-US" sz="4000" b="1" dirty="0"/>
              <a:t>11. Sample Output</a:t>
            </a:r>
          </a:p>
        </p:txBody>
      </p:sp>
      <p:sp>
        <p:nvSpPr>
          <p:cNvPr id="4" name="Rectangle 3">
            <a:extLst>
              <a:ext uri="{FF2B5EF4-FFF2-40B4-BE49-F238E27FC236}">
                <a16:creationId xmlns:a16="http://schemas.microsoft.com/office/drawing/2014/main" id="{E1E2C81B-E8B6-47C3-A9F6-A9867FA667DE}"/>
              </a:ext>
            </a:extLst>
          </p:cNvPr>
          <p:cNvSpPr/>
          <p:nvPr/>
        </p:nvSpPr>
        <p:spPr>
          <a:xfrm>
            <a:off x="1709784" y="5518997"/>
            <a:ext cx="2619628" cy="523220"/>
          </a:xfrm>
          <a:prstGeom prst="rect">
            <a:avLst/>
          </a:prstGeom>
        </p:spPr>
        <p:txBody>
          <a:bodyPr wrap="none">
            <a:spAutoFit/>
          </a:bodyPr>
          <a:lstStyle/>
          <a:p>
            <a:r>
              <a:rPr lang="en-US" sz="2800" dirty="0"/>
              <a:t>[</a:t>
            </a:r>
            <a:r>
              <a:rPr lang="en-US" sz="2800" b="1" dirty="0"/>
              <a:t>Main Menu SS] </a:t>
            </a:r>
          </a:p>
        </p:txBody>
      </p:sp>
      <p:sp>
        <p:nvSpPr>
          <p:cNvPr id="11" name="Rectangle 10">
            <a:extLst>
              <a:ext uri="{FF2B5EF4-FFF2-40B4-BE49-F238E27FC236}">
                <a16:creationId xmlns:a16="http://schemas.microsoft.com/office/drawing/2014/main" id="{D997F60D-01A5-4024-9423-A73AA4DF17E3}"/>
              </a:ext>
            </a:extLst>
          </p:cNvPr>
          <p:cNvSpPr/>
          <p:nvPr/>
        </p:nvSpPr>
        <p:spPr>
          <a:xfrm>
            <a:off x="7631782" y="5498887"/>
            <a:ext cx="2770310" cy="523220"/>
          </a:xfrm>
          <a:prstGeom prst="rect">
            <a:avLst/>
          </a:prstGeom>
        </p:spPr>
        <p:txBody>
          <a:bodyPr wrap="none">
            <a:spAutoFit/>
          </a:bodyPr>
          <a:lstStyle/>
          <a:p>
            <a:r>
              <a:rPr lang="en-US" sz="2800" b="1" dirty="0"/>
              <a:t>[Add Student SS] </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17753" y="1840001"/>
            <a:ext cx="5974247" cy="2787982"/>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3791" y="1319463"/>
            <a:ext cx="5271613" cy="3599057"/>
          </a:xfrm>
          <a:prstGeom prst="rect">
            <a:avLst/>
          </a:prstGeom>
        </p:spPr>
      </p:pic>
    </p:spTree>
    <p:extLst>
      <p:ext uri="{BB962C8B-B14F-4D97-AF65-F5344CB8AC3E}">
        <p14:creationId xmlns:p14="http://schemas.microsoft.com/office/powerpoint/2010/main" val="4191645537"/>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881D230-0777-44A7-90FB-17EF8B57F4C9}"/>
              </a:ext>
            </a:extLst>
          </p:cNvPr>
          <p:cNvSpPr/>
          <p:nvPr/>
        </p:nvSpPr>
        <p:spPr>
          <a:xfrm>
            <a:off x="657726" y="721895"/>
            <a:ext cx="288758" cy="1219200"/>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97ADDBF-17FB-4D56-92B7-7635951F34B2}"/>
              </a:ext>
            </a:extLst>
          </p:cNvPr>
          <p:cNvSpPr/>
          <p:nvPr/>
        </p:nvSpPr>
        <p:spPr>
          <a:xfrm>
            <a:off x="1719269" y="5121260"/>
            <a:ext cx="2576346" cy="523220"/>
          </a:xfrm>
          <a:prstGeom prst="rect">
            <a:avLst/>
          </a:prstGeom>
        </p:spPr>
        <p:txBody>
          <a:bodyPr wrap="none">
            <a:spAutoFit/>
          </a:bodyPr>
          <a:lstStyle/>
          <a:p>
            <a:r>
              <a:rPr lang="en-US" sz="2800" b="1" dirty="0"/>
              <a:t>[Display List SS]</a:t>
            </a:r>
          </a:p>
        </p:txBody>
      </p:sp>
      <p:sp>
        <p:nvSpPr>
          <p:cNvPr id="8" name="Rectangle 7">
            <a:extLst>
              <a:ext uri="{FF2B5EF4-FFF2-40B4-BE49-F238E27FC236}">
                <a16:creationId xmlns:a16="http://schemas.microsoft.com/office/drawing/2014/main" id="{94B6A407-63C9-4961-947A-680D97A88E52}"/>
              </a:ext>
            </a:extLst>
          </p:cNvPr>
          <p:cNvSpPr/>
          <p:nvPr/>
        </p:nvSpPr>
        <p:spPr>
          <a:xfrm>
            <a:off x="7511376" y="5121260"/>
            <a:ext cx="2846741" cy="523220"/>
          </a:xfrm>
          <a:prstGeom prst="rect">
            <a:avLst/>
          </a:prstGeom>
        </p:spPr>
        <p:txBody>
          <a:bodyPr wrap="none">
            <a:spAutoFit/>
          </a:bodyPr>
          <a:lstStyle/>
          <a:p>
            <a:r>
              <a:rPr lang="en-US" sz="2800" b="1" dirty="0"/>
              <a:t>[Result/CGPA SS] </a:t>
            </a:r>
          </a:p>
        </p:txBody>
      </p:sp>
      <p:pic>
        <p:nvPicPr>
          <p:cNvPr id="9" name="Picture 8"/>
          <p:cNvPicPr>
            <a:picLocks noChangeAspect="1"/>
          </p:cNvPicPr>
          <p:nvPr/>
        </p:nvPicPr>
        <p:blipFill>
          <a:blip r:embed="rId2"/>
          <a:stretch>
            <a:fillRect/>
          </a:stretch>
        </p:blipFill>
        <p:spPr>
          <a:xfrm>
            <a:off x="6547140" y="651243"/>
            <a:ext cx="5441269" cy="4320728"/>
          </a:xfrm>
          <a:prstGeom prst="rect">
            <a:avLst/>
          </a:prstGeom>
        </p:spPr>
      </p:pic>
      <p:pic>
        <p:nvPicPr>
          <p:cNvPr id="4" name="Picture 3"/>
          <p:cNvPicPr>
            <a:picLocks noChangeAspect="1"/>
          </p:cNvPicPr>
          <p:nvPr/>
        </p:nvPicPr>
        <p:blipFill>
          <a:blip r:embed="rId3"/>
          <a:stretch>
            <a:fillRect/>
          </a:stretch>
        </p:blipFill>
        <p:spPr>
          <a:xfrm>
            <a:off x="92438" y="1385951"/>
            <a:ext cx="6289702" cy="2547167"/>
          </a:xfrm>
          <a:prstGeom prst="rect">
            <a:avLst/>
          </a:prstGeom>
        </p:spPr>
      </p:pic>
    </p:spTree>
    <p:extLst>
      <p:ext uri="{BB962C8B-B14F-4D97-AF65-F5344CB8AC3E}">
        <p14:creationId xmlns:p14="http://schemas.microsoft.com/office/powerpoint/2010/main" val="419534204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5B21042-9E9B-48B6-A5B3-62F7BA1129EF}"/>
              </a:ext>
            </a:extLst>
          </p:cNvPr>
          <p:cNvSpPr/>
          <p:nvPr/>
        </p:nvSpPr>
        <p:spPr>
          <a:xfrm>
            <a:off x="609600" y="673768"/>
            <a:ext cx="320842" cy="1459832"/>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746BD0EB-D797-43F6-9E42-87DA2AF05345}"/>
              </a:ext>
            </a:extLst>
          </p:cNvPr>
          <p:cNvSpPr/>
          <p:nvPr/>
        </p:nvSpPr>
        <p:spPr>
          <a:xfrm>
            <a:off x="609600" y="319825"/>
            <a:ext cx="11357810" cy="707886"/>
          </a:xfrm>
          <a:prstGeom prst="rect">
            <a:avLst/>
          </a:prstGeom>
          <a:solidFill>
            <a:schemeClr val="accent5"/>
          </a:solidFill>
        </p:spPr>
        <p:txBody>
          <a:bodyPr wrap="square">
            <a:spAutoFit/>
          </a:bodyPr>
          <a:lstStyle/>
          <a:p>
            <a:pPr algn="ctr"/>
            <a:r>
              <a:rPr lang="en-US" sz="4000" b="1" dirty="0"/>
              <a:t>12. Advantages</a:t>
            </a:r>
          </a:p>
        </p:txBody>
      </p:sp>
      <p:graphicFrame>
        <p:nvGraphicFramePr>
          <p:cNvPr id="5" name="Table 4">
            <a:extLst>
              <a:ext uri="{FF2B5EF4-FFF2-40B4-BE49-F238E27FC236}">
                <a16:creationId xmlns:a16="http://schemas.microsoft.com/office/drawing/2014/main" id="{8514D085-F533-4ACF-B4B5-85ABD8898A57}"/>
              </a:ext>
            </a:extLst>
          </p:cNvPr>
          <p:cNvGraphicFramePr>
            <a:graphicFrameLocks noGrp="1"/>
          </p:cNvGraphicFramePr>
          <p:nvPr>
            <p:extLst>
              <p:ext uri="{D42A27DB-BD31-4B8C-83A1-F6EECF244321}">
                <p14:modId xmlns:p14="http://schemas.microsoft.com/office/powerpoint/2010/main" val="4125005881"/>
              </p:ext>
            </p:extLst>
          </p:nvPr>
        </p:nvGraphicFramePr>
        <p:xfrm>
          <a:off x="609600" y="1176866"/>
          <a:ext cx="11357809" cy="4856480"/>
        </p:xfrm>
        <a:graphic>
          <a:graphicData uri="http://schemas.openxmlformats.org/drawingml/2006/table">
            <a:tbl>
              <a:tblPr firstRow="1" bandRow="1">
                <a:tableStyleId>{00A15C55-8517-42AA-B614-E9B94910E393}</a:tableStyleId>
              </a:tblPr>
              <a:tblGrid>
                <a:gridCol w="4361307">
                  <a:extLst>
                    <a:ext uri="{9D8B030D-6E8A-4147-A177-3AD203B41FA5}">
                      <a16:colId xmlns:a16="http://schemas.microsoft.com/office/drawing/2014/main" val="2901423552"/>
                    </a:ext>
                  </a:extLst>
                </a:gridCol>
                <a:gridCol w="3498251">
                  <a:extLst>
                    <a:ext uri="{9D8B030D-6E8A-4147-A177-3AD203B41FA5}">
                      <a16:colId xmlns:a16="http://schemas.microsoft.com/office/drawing/2014/main" val="278581798"/>
                    </a:ext>
                  </a:extLst>
                </a:gridCol>
                <a:gridCol w="3498251">
                  <a:extLst>
                    <a:ext uri="{9D8B030D-6E8A-4147-A177-3AD203B41FA5}">
                      <a16:colId xmlns:a16="http://schemas.microsoft.com/office/drawing/2014/main" val="3449818396"/>
                    </a:ext>
                  </a:extLst>
                </a:gridCol>
              </a:tblGrid>
              <a:tr h="370840">
                <a:tc>
                  <a:txBody>
                    <a:bodyPr/>
                    <a:lstStyle/>
                    <a:p>
                      <a:pPr algn="ctr"/>
                      <a:r>
                        <a:rPr lang="en-US" dirty="0"/>
                        <a:t>Icon</a:t>
                      </a:r>
                    </a:p>
                  </a:txBody>
                  <a:tcPr anchor="ctr"/>
                </a:tc>
                <a:tc>
                  <a:txBody>
                    <a:bodyPr/>
                    <a:lstStyle/>
                    <a:p>
                      <a:r>
                        <a:rPr lang="en-US"/>
                        <a:t>Advantage</a:t>
                      </a:r>
                    </a:p>
                  </a:txBody>
                  <a:tcPr anchor="ctr"/>
                </a:tc>
                <a:tc>
                  <a:txBody>
                    <a:bodyPr/>
                    <a:lstStyle/>
                    <a:p>
                      <a:r>
                        <a:rPr lang="en-US"/>
                        <a:t>Description</a:t>
                      </a:r>
                    </a:p>
                  </a:txBody>
                  <a:tcPr anchor="ctr"/>
                </a:tc>
                <a:extLst>
                  <a:ext uri="{0D108BD9-81ED-4DB2-BD59-A6C34878D82A}">
                    <a16:rowId xmlns:a16="http://schemas.microsoft.com/office/drawing/2014/main" val="3750182761"/>
                  </a:ext>
                </a:extLst>
              </a:tr>
              <a:tr h="370840">
                <a:tc>
                  <a:txBody>
                    <a:bodyPr/>
                    <a:lstStyle/>
                    <a:p>
                      <a:pPr algn="ctr"/>
                      <a:r>
                        <a:rPr lang="en-US"/>
                        <a:t>🖱️</a:t>
                      </a:r>
                    </a:p>
                  </a:txBody>
                  <a:tcPr anchor="ctr"/>
                </a:tc>
                <a:tc>
                  <a:txBody>
                    <a:bodyPr/>
                    <a:lstStyle/>
                    <a:p>
                      <a:r>
                        <a:rPr lang="en-US"/>
                        <a:t>Easy to Use</a:t>
                      </a:r>
                    </a:p>
                  </a:txBody>
                  <a:tcPr anchor="ctr"/>
                </a:tc>
                <a:tc>
                  <a:txBody>
                    <a:bodyPr/>
                    <a:lstStyle/>
                    <a:p>
                      <a:r>
                        <a:rPr lang="en-US"/>
                        <a:t>Simple and user-friendly interface.</a:t>
                      </a:r>
                    </a:p>
                  </a:txBody>
                  <a:tcPr anchor="ctr"/>
                </a:tc>
                <a:extLst>
                  <a:ext uri="{0D108BD9-81ED-4DB2-BD59-A6C34878D82A}">
                    <a16:rowId xmlns:a16="http://schemas.microsoft.com/office/drawing/2014/main" val="3479390079"/>
                  </a:ext>
                </a:extLst>
              </a:tr>
              <a:tr h="370840">
                <a:tc>
                  <a:txBody>
                    <a:bodyPr/>
                    <a:lstStyle/>
                    <a:p>
                      <a:pPr algn="ctr"/>
                      <a:r>
                        <a:rPr lang="en-US"/>
                        <a:t>🔍</a:t>
                      </a:r>
                    </a:p>
                  </a:txBody>
                  <a:tcPr anchor="ctr"/>
                </a:tc>
                <a:tc>
                  <a:txBody>
                    <a:bodyPr/>
                    <a:lstStyle/>
                    <a:p>
                      <a:r>
                        <a:rPr lang="en-US"/>
                        <a:t>Fast Searching</a:t>
                      </a:r>
                    </a:p>
                  </a:txBody>
                  <a:tcPr anchor="ctr"/>
                </a:tc>
                <a:tc>
                  <a:txBody>
                    <a:bodyPr/>
                    <a:lstStyle/>
                    <a:p>
                      <a:r>
                        <a:rPr lang="en-US"/>
                        <a:t>Quickly search students using Student ID.</a:t>
                      </a:r>
                    </a:p>
                  </a:txBody>
                  <a:tcPr anchor="ctr"/>
                </a:tc>
                <a:extLst>
                  <a:ext uri="{0D108BD9-81ED-4DB2-BD59-A6C34878D82A}">
                    <a16:rowId xmlns:a16="http://schemas.microsoft.com/office/drawing/2014/main" val="630221520"/>
                  </a:ext>
                </a:extLst>
              </a:tr>
              <a:tr h="370840">
                <a:tc>
                  <a:txBody>
                    <a:bodyPr/>
                    <a:lstStyle/>
                    <a:p>
                      <a:pPr algn="ctr"/>
                      <a:r>
                        <a:rPr lang="en-US"/>
                        <a:t>✅</a:t>
                      </a:r>
                    </a:p>
                  </a:txBody>
                  <a:tcPr anchor="ctr"/>
                </a:tc>
                <a:tc>
                  <a:txBody>
                    <a:bodyPr/>
                    <a:lstStyle/>
                    <a:p>
                      <a:r>
                        <a:rPr lang="en-US"/>
                        <a:t>Accurate Validation</a:t>
                      </a:r>
                    </a:p>
                  </a:txBody>
                  <a:tcPr anchor="ctr"/>
                </a:tc>
                <a:tc>
                  <a:txBody>
                    <a:bodyPr/>
                    <a:lstStyle/>
                    <a:p>
                      <a:r>
                        <a:rPr lang="en-US"/>
                        <a:t>Ensures valid Student ID, Department, Semester, and CGPA.</a:t>
                      </a:r>
                    </a:p>
                  </a:txBody>
                  <a:tcPr anchor="ctr"/>
                </a:tc>
                <a:extLst>
                  <a:ext uri="{0D108BD9-81ED-4DB2-BD59-A6C34878D82A}">
                    <a16:rowId xmlns:a16="http://schemas.microsoft.com/office/drawing/2014/main" val="3448092946"/>
                  </a:ext>
                </a:extLst>
              </a:tr>
              <a:tr h="370840">
                <a:tc>
                  <a:txBody>
                    <a:bodyPr/>
                    <a:lstStyle/>
                    <a:p>
                      <a:pPr algn="ctr"/>
                      <a:r>
                        <a:rPr lang="en-US"/>
                        <a:t>🛡️</a:t>
                      </a:r>
                    </a:p>
                  </a:txBody>
                  <a:tcPr anchor="ctr"/>
                </a:tc>
                <a:tc>
                  <a:txBody>
                    <a:bodyPr/>
                    <a:lstStyle/>
                    <a:p>
                      <a:r>
                        <a:rPr lang="en-US"/>
                        <a:t>Prevents Invalid Input</a:t>
                      </a:r>
                    </a:p>
                  </a:txBody>
                  <a:tcPr anchor="ctr"/>
                </a:tc>
                <a:tc>
                  <a:txBody>
                    <a:bodyPr/>
                    <a:lstStyle/>
                    <a:p>
                      <a:r>
                        <a:rPr lang="en-US"/>
                        <a:t>Rejects incorrect or invalid user input.</a:t>
                      </a:r>
                    </a:p>
                  </a:txBody>
                  <a:tcPr anchor="ctr"/>
                </a:tc>
                <a:extLst>
                  <a:ext uri="{0D108BD9-81ED-4DB2-BD59-A6C34878D82A}">
                    <a16:rowId xmlns:a16="http://schemas.microsoft.com/office/drawing/2014/main" val="3488386647"/>
                  </a:ext>
                </a:extLst>
              </a:tr>
              <a:tr h="370840">
                <a:tc>
                  <a:txBody>
                    <a:bodyPr/>
                    <a:lstStyle/>
                    <a:p>
                      <a:pPr algn="ctr"/>
                      <a:r>
                        <a:rPr lang="en-US"/>
                        <a:t>💻</a:t>
                      </a:r>
                    </a:p>
                  </a:txBody>
                  <a:tcPr anchor="ctr"/>
                </a:tc>
                <a:tc>
                  <a:txBody>
                    <a:bodyPr/>
                    <a:lstStyle/>
                    <a:p>
                      <a:r>
                        <a:rPr lang="en-US"/>
                        <a:t>Simple Interface</a:t>
                      </a:r>
                    </a:p>
                  </a:txBody>
                  <a:tcPr anchor="ctr"/>
                </a:tc>
                <a:tc>
                  <a:txBody>
                    <a:bodyPr/>
                    <a:lstStyle/>
                    <a:p>
                      <a:r>
                        <a:rPr lang="en-US"/>
                        <a:t>Console-based interface that is easy to understand.</a:t>
                      </a:r>
                    </a:p>
                  </a:txBody>
                  <a:tcPr anchor="ctr"/>
                </a:tc>
                <a:extLst>
                  <a:ext uri="{0D108BD9-81ED-4DB2-BD59-A6C34878D82A}">
                    <a16:rowId xmlns:a16="http://schemas.microsoft.com/office/drawing/2014/main" val="358862957"/>
                  </a:ext>
                </a:extLst>
              </a:tr>
              <a:tr h="370840">
                <a:tc>
                  <a:txBody>
                    <a:bodyPr/>
                    <a:lstStyle/>
                    <a:p>
                      <a:pPr algn="ctr"/>
                      <a:r>
                        <a:rPr lang="en-US"/>
                        <a:t>🎓</a:t>
                      </a:r>
                    </a:p>
                  </a:txBody>
                  <a:tcPr anchor="ctr"/>
                </a:tc>
                <a:tc>
                  <a:txBody>
                    <a:bodyPr/>
                    <a:lstStyle/>
                    <a:p>
                      <a:r>
                        <a:rPr lang="en-US"/>
                        <a:t>Useful for Academic Learning</a:t>
                      </a:r>
                    </a:p>
                  </a:txBody>
                  <a:tcPr anchor="ctr"/>
                </a:tc>
                <a:tc>
                  <a:txBody>
                    <a:bodyPr/>
                    <a:lstStyle/>
                    <a:p>
                      <a:r>
                        <a:rPr lang="en-US"/>
                        <a:t>Demonstrates C programming concepts such as structures, functions, arrays, and validation.</a:t>
                      </a:r>
                    </a:p>
                  </a:txBody>
                  <a:tcPr anchor="ctr"/>
                </a:tc>
                <a:extLst>
                  <a:ext uri="{0D108BD9-81ED-4DB2-BD59-A6C34878D82A}">
                    <a16:rowId xmlns:a16="http://schemas.microsoft.com/office/drawing/2014/main" val="3759109955"/>
                  </a:ext>
                </a:extLst>
              </a:tr>
              <a:tr h="370840">
                <a:tc>
                  <a:txBody>
                    <a:bodyPr/>
                    <a:lstStyle/>
                    <a:p>
                      <a:pPr algn="ctr"/>
                      <a:r>
                        <a:rPr lang="en-US"/>
                        <a:t>🔧</a:t>
                      </a:r>
                    </a:p>
                  </a:txBody>
                  <a:tcPr anchor="ctr"/>
                </a:tc>
                <a:tc>
                  <a:txBody>
                    <a:bodyPr/>
                    <a:lstStyle/>
                    <a:p>
                      <a:r>
                        <a:rPr lang="en-US"/>
                        <a:t>Easy to Maintain</a:t>
                      </a:r>
                    </a:p>
                  </a:txBody>
                  <a:tcPr anchor="ctr"/>
                </a:tc>
                <a:tc>
                  <a:txBody>
                    <a:bodyPr/>
                    <a:lstStyle/>
                    <a:p>
                      <a:r>
                        <a:rPr lang="en-US" dirty="0"/>
                        <a:t>Modular code makes updates and maintenance easier.</a:t>
                      </a:r>
                    </a:p>
                  </a:txBody>
                  <a:tcPr anchor="ctr"/>
                </a:tc>
                <a:extLst>
                  <a:ext uri="{0D108BD9-81ED-4DB2-BD59-A6C34878D82A}">
                    <a16:rowId xmlns:a16="http://schemas.microsoft.com/office/drawing/2014/main" val="2359734171"/>
                  </a:ext>
                </a:extLst>
              </a:tr>
            </a:tbl>
          </a:graphicData>
        </a:graphic>
      </p:graphicFrame>
    </p:spTree>
    <p:extLst>
      <p:ext uri="{BB962C8B-B14F-4D97-AF65-F5344CB8AC3E}">
        <p14:creationId xmlns:p14="http://schemas.microsoft.com/office/powerpoint/2010/main" val="3963948789"/>
      </p:ext>
    </p:extLst>
  </p:cSld>
  <p:clrMapOvr>
    <a:masterClrMapping/>
  </p:clrMapOvr>
  <p:transition spd="slow">
    <p:push dir="u"/>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1C684E2-5760-45F1-BEEB-C28D22C89D91}"/>
              </a:ext>
            </a:extLst>
          </p:cNvPr>
          <p:cNvSpPr/>
          <p:nvPr/>
        </p:nvSpPr>
        <p:spPr>
          <a:xfrm>
            <a:off x="577516" y="561474"/>
            <a:ext cx="256673" cy="147587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Table 5">
            <a:extLst>
              <a:ext uri="{FF2B5EF4-FFF2-40B4-BE49-F238E27FC236}">
                <a16:creationId xmlns:a16="http://schemas.microsoft.com/office/drawing/2014/main" id="{4ADE9623-FC63-4C5A-ADDF-7924C6FB4E76}"/>
              </a:ext>
            </a:extLst>
          </p:cNvPr>
          <p:cNvGraphicFramePr>
            <a:graphicFrameLocks noGrp="1"/>
          </p:cNvGraphicFramePr>
          <p:nvPr>
            <p:extLst>
              <p:ext uri="{D42A27DB-BD31-4B8C-83A1-F6EECF244321}">
                <p14:modId xmlns:p14="http://schemas.microsoft.com/office/powerpoint/2010/main" val="940844816"/>
              </p:ext>
            </p:extLst>
          </p:nvPr>
        </p:nvGraphicFramePr>
        <p:xfrm>
          <a:off x="705852" y="1242440"/>
          <a:ext cx="11036968" cy="4373120"/>
        </p:xfrm>
        <a:graphic>
          <a:graphicData uri="http://schemas.openxmlformats.org/drawingml/2006/table">
            <a:tbl>
              <a:tblPr/>
              <a:tblGrid>
                <a:gridCol w="5518484">
                  <a:extLst>
                    <a:ext uri="{9D8B030D-6E8A-4147-A177-3AD203B41FA5}">
                      <a16:colId xmlns:a16="http://schemas.microsoft.com/office/drawing/2014/main" val="2249015879"/>
                    </a:ext>
                  </a:extLst>
                </a:gridCol>
                <a:gridCol w="5518484">
                  <a:extLst>
                    <a:ext uri="{9D8B030D-6E8A-4147-A177-3AD203B41FA5}">
                      <a16:colId xmlns:a16="http://schemas.microsoft.com/office/drawing/2014/main" val="3621982551"/>
                    </a:ext>
                  </a:extLst>
                </a:gridCol>
              </a:tblGrid>
              <a:tr h="447534">
                <a:tc>
                  <a:txBody>
                    <a:bodyPr/>
                    <a:lstStyle/>
                    <a:p>
                      <a:r>
                        <a:rPr lang="en-US" sz="2400" b="1" dirty="0">
                          <a:solidFill>
                            <a:schemeClr val="bg1"/>
                          </a:solidFill>
                        </a:rPr>
                        <a:t>Limitation</a:t>
                      </a:r>
                      <a:endParaRPr lang="en-US" sz="2400" dirty="0">
                        <a:solidFill>
                          <a:schemeClr val="bg1"/>
                        </a:solidFill>
                      </a:endParaRPr>
                    </a:p>
                  </a:txBody>
                  <a:tcPr anchor="ctr">
                    <a:lnL>
                      <a:noFill/>
                    </a:lnL>
                    <a:lnR>
                      <a:noFill/>
                    </a:lnR>
                    <a:lnT>
                      <a:noFill/>
                    </a:lnT>
                    <a:lnB>
                      <a:noFill/>
                    </a:lnB>
                    <a:solidFill>
                      <a:srgbClr val="FF0000"/>
                    </a:solidFill>
                  </a:tcPr>
                </a:tc>
                <a:tc>
                  <a:txBody>
                    <a:bodyPr/>
                    <a:lstStyle/>
                    <a:p>
                      <a:r>
                        <a:rPr lang="en-US" sz="2400" b="1" dirty="0"/>
                        <a:t>Description</a:t>
                      </a:r>
                      <a:endParaRPr lang="en-US" sz="2400" dirty="0"/>
                    </a:p>
                  </a:txBody>
                  <a:tcPr anchor="ctr">
                    <a:lnL>
                      <a:noFill/>
                    </a:lnL>
                    <a:lnR>
                      <a:noFill/>
                    </a:lnR>
                    <a:lnT>
                      <a:noFill/>
                    </a:lnT>
                    <a:lnB>
                      <a:noFill/>
                    </a:lnB>
                    <a:solidFill>
                      <a:schemeClr val="accent4">
                        <a:lumMod val="60000"/>
                        <a:lumOff val="40000"/>
                      </a:schemeClr>
                    </a:solidFill>
                  </a:tcPr>
                </a:tc>
                <a:extLst>
                  <a:ext uri="{0D108BD9-81ED-4DB2-BD59-A6C34878D82A}">
                    <a16:rowId xmlns:a16="http://schemas.microsoft.com/office/drawing/2014/main" val="2757531793"/>
                  </a:ext>
                </a:extLst>
              </a:tr>
              <a:tr h="783184">
                <a:tc>
                  <a:txBody>
                    <a:bodyPr/>
                    <a:lstStyle/>
                    <a:p>
                      <a:r>
                        <a:rPr lang="en-US" b="1" dirty="0"/>
                        <a:t>Console-Based Application</a:t>
                      </a:r>
                      <a:endParaRPr lang="en-US" dirty="0"/>
                    </a:p>
                  </a:txBody>
                  <a:tcPr anchor="ctr">
                    <a:lnL>
                      <a:noFill/>
                    </a:lnL>
                    <a:lnR>
                      <a:noFill/>
                    </a:lnR>
                    <a:lnT>
                      <a:noFill/>
                    </a:lnT>
                    <a:lnB>
                      <a:noFill/>
                    </a:lnB>
                    <a:solidFill>
                      <a:schemeClr val="accent5">
                        <a:lumMod val="40000"/>
                        <a:lumOff val="60000"/>
                      </a:schemeClr>
                    </a:solidFill>
                  </a:tcPr>
                </a:tc>
                <a:tc>
                  <a:txBody>
                    <a:bodyPr/>
                    <a:lstStyle/>
                    <a:p>
                      <a:r>
                        <a:rPr lang="en-US" sz="2000" dirty="0"/>
                        <a:t>The system operates only through the command-line interface.</a:t>
                      </a:r>
                    </a:p>
                  </a:txBody>
                  <a:tcPr anchor="ctr">
                    <a:lnL>
                      <a:noFill/>
                    </a:lnL>
                    <a:lnR>
                      <a:noFill/>
                    </a:lnR>
                    <a:lnT>
                      <a:noFill/>
                    </a:lnT>
                    <a:lnB>
                      <a:noFill/>
                    </a:lnB>
                  </a:tcPr>
                </a:tc>
                <a:extLst>
                  <a:ext uri="{0D108BD9-81ED-4DB2-BD59-A6C34878D82A}">
                    <a16:rowId xmlns:a16="http://schemas.microsoft.com/office/drawing/2014/main" val="1559459189"/>
                  </a:ext>
                </a:extLst>
              </a:tr>
              <a:tr h="783184">
                <a:tc>
                  <a:txBody>
                    <a:bodyPr/>
                    <a:lstStyle/>
                    <a:p>
                      <a:r>
                        <a:rPr lang="en-US" b="1"/>
                        <a:t>Maximum Student Limit</a:t>
                      </a:r>
                      <a:endParaRPr lang="en-US"/>
                    </a:p>
                  </a:txBody>
                  <a:tcPr anchor="ctr">
                    <a:lnL>
                      <a:noFill/>
                    </a:lnL>
                    <a:lnR>
                      <a:noFill/>
                    </a:lnR>
                    <a:lnT>
                      <a:noFill/>
                    </a:lnT>
                    <a:lnB>
                      <a:noFill/>
                    </a:lnB>
                  </a:tcPr>
                </a:tc>
                <a:tc>
                  <a:txBody>
                    <a:bodyPr/>
                    <a:lstStyle/>
                    <a:p>
                      <a:r>
                        <a:rPr lang="en-US" sz="2000" dirty="0"/>
                        <a:t>The application can handle only a limited number of student records.</a:t>
                      </a:r>
                    </a:p>
                  </a:txBody>
                  <a:tcPr anchor="ctr">
                    <a:lnL>
                      <a:noFill/>
                    </a:lnL>
                    <a:lnR>
                      <a:noFill/>
                    </a:lnR>
                    <a:lnT>
                      <a:noFill/>
                    </a:lnT>
                    <a:lnB>
                      <a:noFill/>
                    </a:lnB>
                  </a:tcPr>
                </a:tc>
                <a:extLst>
                  <a:ext uri="{0D108BD9-81ED-4DB2-BD59-A6C34878D82A}">
                    <a16:rowId xmlns:a16="http://schemas.microsoft.com/office/drawing/2014/main" val="3984236448"/>
                  </a:ext>
                </a:extLst>
              </a:tr>
              <a:tr h="783184">
                <a:tc>
                  <a:txBody>
                    <a:bodyPr/>
                    <a:lstStyle/>
                    <a:p>
                      <a:r>
                        <a:rPr lang="en-US" b="1" dirty="0"/>
                        <a:t>No Login System</a:t>
                      </a:r>
                      <a:endParaRPr lang="en-US" dirty="0"/>
                    </a:p>
                  </a:txBody>
                  <a:tcPr anchor="ctr">
                    <a:lnL>
                      <a:noFill/>
                    </a:lnL>
                    <a:lnR>
                      <a:noFill/>
                    </a:lnR>
                    <a:lnT>
                      <a:noFill/>
                    </a:lnT>
                    <a:lnB>
                      <a:noFill/>
                    </a:lnB>
                    <a:solidFill>
                      <a:schemeClr val="accent5">
                        <a:lumMod val="40000"/>
                        <a:lumOff val="60000"/>
                      </a:schemeClr>
                    </a:solidFill>
                  </a:tcPr>
                </a:tc>
                <a:tc>
                  <a:txBody>
                    <a:bodyPr/>
                    <a:lstStyle/>
                    <a:p>
                      <a:r>
                        <a:rPr lang="en-US" sz="2000" dirty="0"/>
                        <a:t>User authentication and role-based access are not implemented.</a:t>
                      </a:r>
                    </a:p>
                  </a:txBody>
                  <a:tcPr anchor="ctr">
                    <a:lnL>
                      <a:noFill/>
                    </a:lnL>
                    <a:lnR>
                      <a:noFill/>
                    </a:lnR>
                    <a:lnT>
                      <a:noFill/>
                    </a:lnT>
                    <a:lnB>
                      <a:noFill/>
                    </a:lnB>
                  </a:tcPr>
                </a:tc>
                <a:extLst>
                  <a:ext uri="{0D108BD9-81ED-4DB2-BD59-A6C34878D82A}">
                    <a16:rowId xmlns:a16="http://schemas.microsoft.com/office/drawing/2014/main" val="3265679933"/>
                  </a:ext>
                </a:extLst>
              </a:tr>
              <a:tr h="783184">
                <a:tc>
                  <a:txBody>
                    <a:bodyPr/>
                    <a:lstStyle/>
                    <a:p>
                      <a:r>
                        <a:rPr lang="en-US" b="1"/>
                        <a:t>No Database Integration</a:t>
                      </a:r>
                      <a:endParaRPr lang="en-US"/>
                    </a:p>
                  </a:txBody>
                  <a:tcPr anchor="ctr">
                    <a:lnL>
                      <a:noFill/>
                    </a:lnL>
                    <a:lnR>
                      <a:noFill/>
                    </a:lnR>
                    <a:lnT>
                      <a:noFill/>
                    </a:lnT>
                    <a:lnB>
                      <a:noFill/>
                    </a:lnB>
                  </a:tcPr>
                </a:tc>
                <a:tc>
                  <a:txBody>
                    <a:bodyPr/>
                    <a:lstStyle/>
                    <a:p>
                      <a:r>
                        <a:rPr lang="en-US" sz="2000" dirty="0"/>
                        <a:t>Data is not stored in a database; it is kept temporarily or in files only.</a:t>
                      </a:r>
                    </a:p>
                  </a:txBody>
                  <a:tcPr anchor="ctr">
                    <a:lnL>
                      <a:noFill/>
                    </a:lnL>
                    <a:lnR>
                      <a:noFill/>
                    </a:lnR>
                    <a:lnT>
                      <a:noFill/>
                    </a:lnT>
                    <a:lnB>
                      <a:noFill/>
                    </a:lnB>
                  </a:tcPr>
                </a:tc>
                <a:extLst>
                  <a:ext uri="{0D108BD9-81ED-4DB2-BD59-A6C34878D82A}">
                    <a16:rowId xmlns:a16="http://schemas.microsoft.com/office/drawing/2014/main" val="394406068"/>
                  </a:ext>
                </a:extLst>
              </a:tr>
              <a:tr h="783184">
                <a:tc>
                  <a:txBody>
                    <a:bodyPr/>
                    <a:lstStyle/>
                    <a:p>
                      <a:r>
                        <a:rPr lang="en-US" b="1" dirty="0"/>
                        <a:t>No Graphical User Interface (GUI)</a:t>
                      </a:r>
                      <a:endParaRPr lang="en-US" dirty="0"/>
                    </a:p>
                  </a:txBody>
                  <a:tcPr anchor="ctr">
                    <a:lnL>
                      <a:noFill/>
                    </a:lnL>
                    <a:lnR>
                      <a:noFill/>
                    </a:lnR>
                    <a:lnT>
                      <a:noFill/>
                    </a:lnT>
                    <a:lnB>
                      <a:noFill/>
                    </a:lnB>
                    <a:solidFill>
                      <a:schemeClr val="accent5">
                        <a:lumMod val="40000"/>
                        <a:lumOff val="60000"/>
                      </a:schemeClr>
                    </a:solidFill>
                  </a:tcPr>
                </a:tc>
                <a:tc>
                  <a:txBody>
                    <a:bodyPr/>
                    <a:lstStyle/>
                    <a:p>
                      <a:r>
                        <a:rPr lang="en-US" dirty="0"/>
                        <a:t>T</a:t>
                      </a:r>
                      <a:r>
                        <a:rPr lang="en-US" sz="2000" dirty="0"/>
                        <a:t>he system does not provide a visual interface for users.</a:t>
                      </a:r>
                    </a:p>
                  </a:txBody>
                  <a:tcPr anchor="ctr">
                    <a:lnL>
                      <a:noFill/>
                    </a:lnL>
                    <a:lnR>
                      <a:noFill/>
                    </a:lnR>
                    <a:lnT>
                      <a:noFill/>
                    </a:lnT>
                    <a:lnB>
                      <a:noFill/>
                    </a:lnB>
                  </a:tcPr>
                </a:tc>
                <a:extLst>
                  <a:ext uri="{0D108BD9-81ED-4DB2-BD59-A6C34878D82A}">
                    <a16:rowId xmlns:a16="http://schemas.microsoft.com/office/drawing/2014/main" val="1995711387"/>
                  </a:ext>
                </a:extLst>
              </a:tr>
            </a:tbl>
          </a:graphicData>
        </a:graphic>
      </p:graphicFrame>
      <p:sp>
        <p:nvSpPr>
          <p:cNvPr id="7" name="Rectangle 6">
            <a:extLst>
              <a:ext uri="{FF2B5EF4-FFF2-40B4-BE49-F238E27FC236}">
                <a16:creationId xmlns:a16="http://schemas.microsoft.com/office/drawing/2014/main" id="{4BD8147D-52B1-4E20-B131-585C40BA08BD}"/>
              </a:ext>
            </a:extLst>
          </p:cNvPr>
          <p:cNvSpPr/>
          <p:nvPr/>
        </p:nvSpPr>
        <p:spPr>
          <a:xfrm>
            <a:off x="705852" y="376808"/>
            <a:ext cx="11036968" cy="707886"/>
          </a:xfrm>
          <a:prstGeom prst="rect">
            <a:avLst/>
          </a:prstGeom>
          <a:solidFill>
            <a:schemeClr val="accent5"/>
          </a:solidFill>
        </p:spPr>
        <p:txBody>
          <a:bodyPr wrap="square">
            <a:spAutoFit/>
          </a:bodyPr>
          <a:lstStyle/>
          <a:p>
            <a:pPr algn="ctr"/>
            <a:r>
              <a:rPr lang="en-US" sz="4000" b="1" dirty="0"/>
              <a:t>13. Limitations</a:t>
            </a:r>
          </a:p>
        </p:txBody>
      </p:sp>
    </p:spTree>
    <p:extLst>
      <p:ext uri="{BB962C8B-B14F-4D97-AF65-F5344CB8AC3E}">
        <p14:creationId xmlns:p14="http://schemas.microsoft.com/office/powerpoint/2010/main" val="315434006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F1EB2F1-74C0-418D-A2B3-8F9481ABAE37}"/>
              </a:ext>
            </a:extLst>
          </p:cNvPr>
          <p:cNvSpPr/>
          <p:nvPr/>
        </p:nvSpPr>
        <p:spPr>
          <a:xfrm>
            <a:off x="657726" y="802105"/>
            <a:ext cx="336885" cy="1219200"/>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E69BC169-4E73-48E3-BA7D-8CFA7BC11782}"/>
              </a:ext>
            </a:extLst>
          </p:cNvPr>
          <p:cNvSpPr/>
          <p:nvPr/>
        </p:nvSpPr>
        <p:spPr>
          <a:xfrm>
            <a:off x="417095" y="448162"/>
            <a:ext cx="11341767" cy="707886"/>
          </a:xfrm>
          <a:prstGeom prst="rect">
            <a:avLst/>
          </a:prstGeom>
          <a:solidFill>
            <a:schemeClr val="accent5"/>
          </a:solidFill>
        </p:spPr>
        <p:txBody>
          <a:bodyPr wrap="square">
            <a:spAutoFit/>
          </a:bodyPr>
          <a:lstStyle/>
          <a:p>
            <a:pPr algn="ctr"/>
            <a:r>
              <a:rPr lang="en-US" sz="4000" b="1" dirty="0"/>
              <a:t>14: Future Scope</a:t>
            </a:r>
          </a:p>
        </p:txBody>
      </p:sp>
      <p:graphicFrame>
        <p:nvGraphicFramePr>
          <p:cNvPr id="4" name="Table 3">
            <a:extLst>
              <a:ext uri="{FF2B5EF4-FFF2-40B4-BE49-F238E27FC236}">
                <a16:creationId xmlns:a16="http://schemas.microsoft.com/office/drawing/2014/main" id="{A0E07F03-AEEF-4AC3-B522-2FE49C7A37C1}"/>
              </a:ext>
            </a:extLst>
          </p:cNvPr>
          <p:cNvGraphicFramePr>
            <a:graphicFrameLocks noGrp="1"/>
          </p:cNvGraphicFramePr>
          <p:nvPr>
            <p:extLst>
              <p:ext uri="{D42A27DB-BD31-4B8C-83A1-F6EECF244321}">
                <p14:modId xmlns:p14="http://schemas.microsoft.com/office/powerpoint/2010/main" val="3716333584"/>
              </p:ext>
            </p:extLst>
          </p:nvPr>
        </p:nvGraphicFramePr>
        <p:xfrm>
          <a:off x="417094" y="1323473"/>
          <a:ext cx="11341767" cy="5061444"/>
        </p:xfrm>
        <a:graphic>
          <a:graphicData uri="http://schemas.openxmlformats.org/drawingml/2006/table">
            <a:tbl>
              <a:tblPr firstRow="1" bandRow="1">
                <a:tableStyleId>{35758FB7-9AC5-4552-8A53-C91805E547FA}</a:tableStyleId>
              </a:tblPr>
              <a:tblGrid>
                <a:gridCol w="3780589">
                  <a:extLst>
                    <a:ext uri="{9D8B030D-6E8A-4147-A177-3AD203B41FA5}">
                      <a16:colId xmlns:a16="http://schemas.microsoft.com/office/drawing/2014/main" val="2818801745"/>
                    </a:ext>
                  </a:extLst>
                </a:gridCol>
                <a:gridCol w="2443749">
                  <a:extLst>
                    <a:ext uri="{9D8B030D-6E8A-4147-A177-3AD203B41FA5}">
                      <a16:colId xmlns:a16="http://schemas.microsoft.com/office/drawing/2014/main" val="1401328552"/>
                    </a:ext>
                  </a:extLst>
                </a:gridCol>
                <a:gridCol w="5117429">
                  <a:extLst>
                    <a:ext uri="{9D8B030D-6E8A-4147-A177-3AD203B41FA5}">
                      <a16:colId xmlns:a16="http://schemas.microsoft.com/office/drawing/2014/main" val="1458501787"/>
                    </a:ext>
                  </a:extLst>
                </a:gridCol>
              </a:tblGrid>
              <a:tr h="323048">
                <a:tc>
                  <a:txBody>
                    <a:bodyPr/>
                    <a:lstStyle/>
                    <a:p>
                      <a:r>
                        <a:rPr lang="en-US" dirty="0"/>
                        <a:t>Feature</a:t>
                      </a:r>
                    </a:p>
                  </a:txBody>
                  <a:tcPr anchor="ctr">
                    <a:solidFill>
                      <a:schemeClr val="accent2"/>
                    </a:solidFill>
                  </a:tcPr>
                </a:tc>
                <a:tc>
                  <a:txBody>
                    <a:bodyPr/>
                    <a:lstStyle/>
                    <a:p>
                      <a:r>
                        <a:rPr lang="en-US" dirty="0"/>
                        <a:t>Icon</a:t>
                      </a:r>
                    </a:p>
                  </a:txBody>
                  <a:tcPr anchor="ctr">
                    <a:solidFill>
                      <a:schemeClr val="accent2"/>
                    </a:solidFill>
                  </a:tcPr>
                </a:tc>
                <a:tc>
                  <a:txBody>
                    <a:bodyPr/>
                    <a:lstStyle/>
                    <a:p>
                      <a:r>
                        <a:rPr lang="en-US" dirty="0"/>
                        <a:t>Description</a:t>
                      </a:r>
                    </a:p>
                  </a:txBody>
                  <a:tcPr anchor="ctr">
                    <a:solidFill>
                      <a:schemeClr val="accent2"/>
                    </a:solidFill>
                  </a:tcPr>
                </a:tc>
                <a:extLst>
                  <a:ext uri="{0D108BD9-81ED-4DB2-BD59-A6C34878D82A}">
                    <a16:rowId xmlns:a16="http://schemas.microsoft.com/office/drawing/2014/main" val="1379227532"/>
                  </a:ext>
                </a:extLst>
              </a:tr>
              <a:tr h="579372">
                <a:tc>
                  <a:txBody>
                    <a:bodyPr/>
                    <a:lstStyle/>
                    <a:p>
                      <a:r>
                        <a:rPr lang="en-US"/>
                        <a:t>🖥️ GUI Version</a:t>
                      </a:r>
                    </a:p>
                  </a:txBody>
                  <a:tcPr anchor="ctr"/>
                </a:tc>
                <a:tc>
                  <a:txBody>
                    <a:bodyPr/>
                    <a:lstStyle/>
                    <a:p>
                      <a:r>
                        <a:rPr lang="en-US"/>
                        <a:t>🖥️</a:t>
                      </a:r>
                    </a:p>
                  </a:txBody>
                  <a:tcPr anchor="ctr"/>
                </a:tc>
                <a:tc>
                  <a:txBody>
                    <a:bodyPr/>
                    <a:lstStyle/>
                    <a:p>
                      <a:r>
                        <a:rPr lang="en-US"/>
                        <a:t>Develop a user-friendly graphical interface.</a:t>
                      </a:r>
                    </a:p>
                  </a:txBody>
                  <a:tcPr anchor="ctr"/>
                </a:tc>
                <a:extLst>
                  <a:ext uri="{0D108BD9-81ED-4DB2-BD59-A6C34878D82A}">
                    <a16:rowId xmlns:a16="http://schemas.microsoft.com/office/drawing/2014/main" val="2578212204"/>
                  </a:ext>
                </a:extLst>
              </a:tr>
              <a:tr h="579372">
                <a:tc>
                  <a:txBody>
                    <a:bodyPr/>
                    <a:lstStyle/>
                    <a:p>
                      <a:r>
                        <a:rPr lang="en-US"/>
                        <a:t>🗄️ Database Integration (MySQL)</a:t>
                      </a:r>
                    </a:p>
                  </a:txBody>
                  <a:tcPr anchor="ctr"/>
                </a:tc>
                <a:tc>
                  <a:txBody>
                    <a:bodyPr/>
                    <a:lstStyle/>
                    <a:p>
                      <a:r>
                        <a:rPr lang="en-US"/>
                        <a:t>🗄️</a:t>
                      </a:r>
                    </a:p>
                  </a:txBody>
                  <a:tcPr anchor="ctr"/>
                </a:tc>
                <a:tc>
                  <a:txBody>
                    <a:bodyPr/>
                    <a:lstStyle/>
                    <a:p>
                      <a:r>
                        <a:rPr lang="en-US"/>
                        <a:t>Store and manage student data securely in a database.</a:t>
                      </a:r>
                    </a:p>
                  </a:txBody>
                  <a:tcPr anchor="ctr"/>
                </a:tc>
                <a:extLst>
                  <a:ext uri="{0D108BD9-81ED-4DB2-BD59-A6C34878D82A}">
                    <a16:rowId xmlns:a16="http://schemas.microsoft.com/office/drawing/2014/main" val="206612347"/>
                  </a:ext>
                </a:extLst>
              </a:tr>
              <a:tr h="579372">
                <a:tc>
                  <a:txBody>
                    <a:bodyPr/>
                    <a:lstStyle/>
                    <a:p>
                      <a:r>
                        <a:rPr lang="en-US"/>
                        <a:t>🔐 Login Authentication</a:t>
                      </a:r>
                    </a:p>
                  </a:txBody>
                  <a:tcPr anchor="ctr"/>
                </a:tc>
                <a:tc>
                  <a:txBody>
                    <a:bodyPr/>
                    <a:lstStyle/>
                    <a:p>
                      <a:r>
                        <a:rPr lang="en-US"/>
                        <a:t>🔐</a:t>
                      </a:r>
                    </a:p>
                  </a:txBody>
                  <a:tcPr anchor="ctr"/>
                </a:tc>
                <a:tc>
                  <a:txBody>
                    <a:bodyPr/>
                    <a:lstStyle/>
                    <a:p>
                      <a:r>
                        <a:rPr lang="en-US" dirty="0"/>
                        <a:t>Add secure user login and access control.</a:t>
                      </a:r>
                    </a:p>
                  </a:txBody>
                  <a:tcPr anchor="ctr"/>
                </a:tc>
                <a:extLst>
                  <a:ext uri="{0D108BD9-81ED-4DB2-BD59-A6C34878D82A}">
                    <a16:rowId xmlns:a16="http://schemas.microsoft.com/office/drawing/2014/main" val="2521606827"/>
                  </a:ext>
                </a:extLst>
              </a:tr>
              <a:tr h="579372">
                <a:tc>
                  <a:txBody>
                    <a:bodyPr/>
                    <a:lstStyle/>
                    <a:p>
                      <a:r>
                        <a:rPr lang="en-US"/>
                        <a:t>📅 Attendance Management</a:t>
                      </a:r>
                    </a:p>
                  </a:txBody>
                  <a:tcPr anchor="ctr"/>
                </a:tc>
                <a:tc>
                  <a:txBody>
                    <a:bodyPr/>
                    <a:lstStyle/>
                    <a:p>
                      <a:r>
                        <a:rPr lang="en-US"/>
                        <a:t>📅</a:t>
                      </a:r>
                    </a:p>
                  </a:txBody>
                  <a:tcPr anchor="ctr"/>
                </a:tc>
                <a:tc>
                  <a:txBody>
                    <a:bodyPr/>
                    <a:lstStyle/>
                    <a:p>
                      <a:r>
                        <a:rPr lang="en-US"/>
                        <a:t>Record and manage student attendance efficiently.</a:t>
                      </a:r>
                    </a:p>
                  </a:txBody>
                  <a:tcPr anchor="ctr"/>
                </a:tc>
                <a:extLst>
                  <a:ext uri="{0D108BD9-81ED-4DB2-BD59-A6C34878D82A}">
                    <a16:rowId xmlns:a16="http://schemas.microsoft.com/office/drawing/2014/main" val="3341434139"/>
                  </a:ext>
                </a:extLst>
              </a:tr>
              <a:tr h="579372">
                <a:tc>
                  <a:txBody>
                    <a:bodyPr/>
                    <a:lstStyle/>
                    <a:p>
                      <a:r>
                        <a:rPr lang="en-US"/>
                        <a:t>📊 Result Management</a:t>
                      </a:r>
                    </a:p>
                  </a:txBody>
                  <a:tcPr anchor="ctr"/>
                </a:tc>
                <a:tc>
                  <a:txBody>
                    <a:bodyPr/>
                    <a:lstStyle/>
                    <a:p>
                      <a:r>
                        <a:rPr lang="en-US"/>
                        <a:t>📊</a:t>
                      </a:r>
                    </a:p>
                  </a:txBody>
                  <a:tcPr anchor="ctr"/>
                </a:tc>
                <a:tc>
                  <a:txBody>
                    <a:bodyPr/>
                    <a:lstStyle/>
                    <a:p>
                      <a:r>
                        <a:rPr lang="en-US"/>
                        <a:t>Generate and manage student results automatically.</a:t>
                      </a:r>
                    </a:p>
                  </a:txBody>
                  <a:tcPr anchor="ctr"/>
                </a:tc>
                <a:extLst>
                  <a:ext uri="{0D108BD9-81ED-4DB2-BD59-A6C34878D82A}">
                    <a16:rowId xmlns:a16="http://schemas.microsoft.com/office/drawing/2014/main" val="1082052109"/>
                  </a:ext>
                </a:extLst>
              </a:tr>
              <a:tr h="579372">
                <a:tc>
                  <a:txBody>
                    <a:bodyPr/>
                    <a:lstStyle/>
                    <a:p>
                      <a:r>
                        <a:rPr lang="en-US"/>
                        <a:t>☁️ Cloud/File Storage</a:t>
                      </a:r>
                    </a:p>
                  </a:txBody>
                  <a:tcPr anchor="ctr"/>
                </a:tc>
                <a:tc>
                  <a:txBody>
                    <a:bodyPr/>
                    <a:lstStyle/>
                    <a:p>
                      <a:r>
                        <a:rPr lang="en-US"/>
                        <a:t>☁️</a:t>
                      </a:r>
                    </a:p>
                  </a:txBody>
                  <a:tcPr anchor="ctr"/>
                </a:tc>
                <a:tc>
                  <a:txBody>
                    <a:bodyPr/>
                    <a:lstStyle/>
                    <a:p>
                      <a:r>
                        <a:rPr lang="en-US"/>
                        <a:t>Store records securely with backup support.</a:t>
                      </a:r>
                    </a:p>
                  </a:txBody>
                  <a:tcPr anchor="ctr"/>
                </a:tc>
                <a:extLst>
                  <a:ext uri="{0D108BD9-81ED-4DB2-BD59-A6C34878D82A}">
                    <a16:rowId xmlns:a16="http://schemas.microsoft.com/office/drawing/2014/main" val="1899092558"/>
                  </a:ext>
                </a:extLst>
              </a:tr>
              <a:tr h="579372">
                <a:tc>
                  <a:txBody>
                    <a:bodyPr/>
                    <a:lstStyle/>
                    <a:p>
                      <a:r>
                        <a:rPr lang="en-US"/>
                        <a:t>📄 PDF Report Generation</a:t>
                      </a:r>
                    </a:p>
                  </a:txBody>
                  <a:tcPr anchor="ctr"/>
                </a:tc>
                <a:tc>
                  <a:txBody>
                    <a:bodyPr/>
                    <a:lstStyle/>
                    <a:p>
                      <a:r>
                        <a:rPr lang="en-US"/>
                        <a:t>📄</a:t>
                      </a:r>
                    </a:p>
                  </a:txBody>
                  <a:tcPr anchor="ctr"/>
                </a:tc>
                <a:tc>
                  <a:txBody>
                    <a:bodyPr/>
                    <a:lstStyle/>
                    <a:p>
                      <a:r>
                        <a:rPr lang="en-US"/>
                        <a:t>Generate printable reports in PDF format.</a:t>
                      </a:r>
                    </a:p>
                  </a:txBody>
                  <a:tcPr anchor="ctr"/>
                </a:tc>
                <a:extLst>
                  <a:ext uri="{0D108BD9-81ED-4DB2-BD59-A6C34878D82A}">
                    <a16:rowId xmlns:a16="http://schemas.microsoft.com/office/drawing/2014/main" val="971757631"/>
                  </a:ext>
                </a:extLst>
              </a:tr>
              <a:tr h="579372">
                <a:tc>
                  <a:txBody>
                    <a:bodyPr/>
                    <a:lstStyle/>
                    <a:p>
                      <a:r>
                        <a:rPr lang="en-US"/>
                        <a:t>🌐 Online Student Portal</a:t>
                      </a:r>
                    </a:p>
                  </a:txBody>
                  <a:tcPr anchor="ctr"/>
                </a:tc>
                <a:tc>
                  <a:txBody>
                    <a:bodyPr/>
                    <a:lstStyle/>
                    <a:p>
                      <a:r>
                        <a:rPr lang="en-US"/>
                        <a:t>🌐</a:t>
                      </a:r>
                    </a:p>
                  </a:txBody>
                  <a:tcPr anchor="ctr"/>
                </a:tc>
                <a:tc>
                  <a:txBody>
                    <a:bodyPr/>
                    <a:lstStyle/>
                    <a:p>
                      <a:r>
                        <a:rPr lang="en-US" dirty="0"/>
                        <a:t>Enable students to access information online.</a:t>
                      </a:r>
                    </a:p>
                  </a:txBody>
                  <a:tcPr anchor="ctr"/>
                </a:tc>
                <a:extLst>
                  <a:ext uri="{0D108BD9-81ED-4DB2-BD59-A6C34878D82A}">
                    <a16:rowId xmlns:a16="http://schemas.microsoft.com/office/drawing/2014/main" val="1509985040"/>
                  </a:ext>
                </a:extLst>
              </a:tr>
            </a:tbl>
          </a:graphicData>
        </a:graphic>
      </p:graphicFrame>
    </p:spTree>
    <p:extLst>
      <p:ext uri="{BB962C8B-B14F-4D97-AF65-F5344CB8AC3E}">
        <p14:creationId xmlns:p14="http://schemas.microsoft.com/office/powerpoint/2010/main" val="149877243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25BFC84-05F3-449D-888D-883CF465C8BB}"/>
              </a:ext>
            </a:extLst>
          </p:cNvPr>
          <p:cNvSpPr/>
          <p:nvPr/>
        </p:nvSpPr>
        <p:spPr>
          <a:xfrm>
            <a:off x="545432" y="625642"/>
            <a:ext cx="336884" cy="1540042"/>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83AB4932-5FCE-4C43-A5C6-FED7A61400D3}"/>
              </a:ext>
            </a:extLst>
          </p:cNvPr>
          <p:cNvSpPr/>
          <p:nvPr/>
        </p:nvSpPr>
        <p:spPr>
          <a:xfrm>
            <a:off x="481263" y="271699"/>
            <a:ext cx="11229473" cy="707886"/>
          </a:xfrm>
          <a:prstGeom prst="rect">
            <a:avLst/>
          </a:prstGeom>
          <a:solidFill>
            <a:schemeClr val="accent5"/>
          </a:solidFill>
        </p:spPr>
        <p:txBody>
          <a:bodyPr wrap="square">
            <a:spAutoFit/>
          </a:bodyPr>
          <a:lstStyle/>
          <a:p>
            <a:pPr algn="ctr"/>
            <a:r>
              <a:rPr lang="en-US" sz="4000" b="1" dirty="0"/>
              <a:t>15. Conclusion</a:t>
            </a:r>
          </a:p>
        </p:txBody>
      </p:sp>
      <p:sp>
        <p:nvSpPr>
          <p:cNvPr id="4" name="Rectangle 3">
            <a:extLst>
              <a:ext uri="{FF2B5EF4-FFF2-40B4-BE49-F238E27FC236}">
                <a16:creationId xmlns:a16="http://schemas.microsoft.com/office/drawing/2014/main" id="{05944761-D46D-4BA5-8F5B-3DA1763E19FE}"/>
              </a:ext>
            </a:extLst>
          </p:cNvPr>
          <p:cNvSpPr/>
          <p:nvPr/>
        </p:nvSpPr>
        <p:spPr>
          <a:xfrm>
            <a:off x="5887453" y="1125686"/>
            <a:ext cx="6096000" cy="5109091"/>
          </a:xfrm>
          <a:prstGeom prst="rect">
            <a:avLst/>
          </a:prstGeom>
        </p:spPr>
        <p:txBody>
          <a:bodyPr>
            <a:spAutoFit/>
          </a:bodyPr>
          <a:lstStyle/>
          <a:p>
            <a:endParaRPr lang="en-US" b="1" dirty="0"/>
          </a:p>
          <a:p>
            <a:pPr algn="just"/>
            <a:r>
              <a:rPr lang="en-US" sz="2800" dirty="0"/>
              <a:t>Student Box is a simple and efficient Student Management System developed using the C programming language. The project demonstrates the practical use of structures, functions, arrays, loops, conditional statements, and input validation to manage student information effectively. It is suitable as an academic project for learning the fundamentals of C programming while solving a real-world record management problem.</a:t>
            </a:r>
          </a:p>
        </p:txBody>
      </p:sp>
      <p:pic>
        <p:nvPicPr>
          <p:cNvPr id="6" name="Picture 5">
            <a:extLst>
              <a:ext uri="{FF2B5EF4-FFF2-40B4-BE49-F238E27FC236}">
                <a16:creationId xmlns:a16="http://schemas.microsoft.com/office/drawing/2014/main" id="{99104D9A-0523-4610-81C4-BBF1A072674B}"/>
              </a:ext>
            </a:extLst>
          </p:cNvPr>
          <p:cNvPicPr>
            <a:picLocks noChangeAspect="1"/>
          </p:cNvPicPr>
          <p:nvPr/>
        </p:nvPicPr>
        <p:blipFill rotWithShape="1">
          <a:blip r:embed="rId2"/>
          <a:srcRect l="12342" t="7128" r="13402" b="18428"/>
          <a:stretch/>
        </p:blipFill>
        <p:spPr>
          <a:xfrm>
            <a:off x="545432" y="1840164"/>
            <a:ext cx="5678906" cy="3177671"/>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spTree>
    <p:extLst>
      <p:ext uri="{BB962C8B-B14F-4D97-AF65-F5344CB8AC3E}">
        <p14:creationId xmlns:p14="http://schemas.microsoft.com/office/powerpoint/2010/main" val="171349601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png"/>
          <p:cNvPicPr>
            <a:picLocks noChangeAspect="1"/>
          </p:cNvPicPr>
          <p:nvPr/>
        </p:nvPicPr>
        <p:blipFill>
          <a:blip r:embed="rId2"/>
          <a:stretch>
            <a:fillRect/>
          </a:stretch>
        </p:blipFill>
        <p:spPr>
          <a:xfrm>
            <a:off x="3776662" y="4114800"/>
            <a:ext cx="4638675" cy="447675"/>
          </a:xfrm>
          <a:prstGeom prst="rect">
            <a:avLst/>
          </a:prstGeom>
        </p:spPr>
      </p:pic>
      <p:sp>
        <p:nvSpPr>
          <p:cNvPr id="5" name="TextBox 4"/>
          <p:cNvSpPr txBox="1"/>
          <p:nvPr/>
        </p:nvSpPr>
        <p:spPr>
          <a:xfrm>
            <a:off x="571500" y="3467100"/>
            <a:ext cx="11049000" cy="314325"/>
          </a:xfrm>
          <a:prstGeom prst="rect">
            <a:avLst/>
          </a:prstGeom>
          <a:noFill/>
        </p:spPr>
        <p:txBody>
          <a:bodyPr wrap="square" lIns="0" tIns="0" rIns="0" bIns="0" anchor="t">
            <a:spAutoFit/>
          </a:bodyPr>
          <a:lstStyle/>
          <a:p>
            <a:pPr algn="ctr">
              <a:lnSpc>
                <a:spcPts val="2475"/>
              </a:lnSpc>
            </a:pPr>
            <a:r>
              <a:rPr sz="1650" b="0" i="0" u="none">
                <a:solidFill>
                  <a:srgbClr val="64748B"/>
                </a:solidFill>
                <a:latin typeface="Inter"/>
              </a:rPr>
              <a:t>Questions &amp; Answers Session</a:t>
            </a:r>
          </a:p>
        </p:txBody>
      </p:sp>
      <p:pic>
        <p:nvPicPr>
          <p:cNvPr id="9" name="Picture 8">
            <a:extLst>
              <a:ext uri="{FF2B5EF4-FFF2-40B4-BE49-F238E27FC236}">
                <a16:creationId xmlns:a16="http://schemas.microsoft.com/office/drawing/2014/main" id="{99CD6B96-4861-4819-A105-8D3695697300}"/>
              </a:ext>
            </a:extLst>
          </p:cNvPr>
          <p:cNvPicPr>
            <a:picLocks noChangeAspect="1"/>
          </p:cNvPicPr>
          <p:nvPr/>
        </p:nvPicPr>
        <p:blipFill>
          <a:blip r:embed="rId3"/>
          <a:stretch>
            <a:fillRect/>
          </a:stretch>
        </p:blipFill>
        <p:spPr>
          <a:xfrm>
            <a:off x="3239" y="0"/>
            <a:ext cx="12185522" cy="6858000"/>
          </a:xfrm>
          <a:prstGeom prst="rect">
            <a:avLst/>
          </a:prstGeom>
          <a:ln>
            <a:noFill/>
          </a:ln>
          <a:effectLst>
            <a:outerShdw blurRad="292100" dist="139700" dir="2700000" algn="tl" rotWithShape="0">
              <a:srgbClr val="333333">
                <a:alpha val="65000"/>
              </a:srgbClr>
            </a:outerShdw>
          </a:effectLst>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476</TotalTime>
  <Words>1238</Words>
  <Application>Microsoft Office PowerPoint</Application>
  <PresentationFormat>Widescreen</PresentationFormat>
  <Paragraphs>310</Paragraphs>
  <Slides>20</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Arial</vt:lpstr>
      <vt:lpstr>Calibri</vt:lpstr>
      <vt:lpstr>Inter</vt:lpstr>
      <vt:lpstr>Inter SemiBold</vt:lpstr>
      <vt:lpstr>Poppins</vt:lpstr>
      <vt:lpstr>Tw Cen MT</vt:lpstr>
      <vt:lpstr>Tw Cen MT Condensed</vt:lpstr>
      <vt:lpstr>Wingdings 3</vt:lpstr>
      <vt:lpstr>Integral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USER</dc:creator>
  <cp:keywords/>
  <dc:description>generated using python-pptx</dc:description>
  <cp:lastModifiedBy>HP</cp:lastModifiedBy>
  <cp:revision>36</cp:revision>
  <dcterms:created xsi:type="dcterms:W3CDTF">2013-01-27T09:14:16Z</dcterms:created>
  <dcterms:modified xsi:type="dcterms:W3CDTF">2026-08-05T05:44:24Z</dcterms:modified>
  <cp:category/>
</cp:coreProperties>
</file>